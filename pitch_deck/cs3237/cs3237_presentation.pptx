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League Spartan" charset="1" panose="00000800000000000000"/>
      <p:regular r:id="rId22"/>
    </p:embeddedFont>
    <p:embeddedFont>
      <p:font typeface="Nunito"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notesSlides/notesSlide2.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Power Usage in Different Modes: In boot or WiFi operation, the ESP32 draws around 250 mA of current; in deep sleep mode, the power consumption is around 100 μA. Assuming the power bank has a capacity of 5,000mAh and the ESP32 is always active, the ESP32 can only last for 40 hours. This is consuming too much power and can be improved.</a:t>
            </a:r>
          </a:p>
          <a:p>
            <a:r>
              <a:rPr lang="en-US"/>
              <a:t>Determine the Interval: Knowing that each washing or drying cycle is around 30 minutes, and the system does not require data being specific to seconds to send out push notifications to the users, the ESP32 does not have to be active all the time. Furthermore, in order to capture the spin stage of the washer, which occurs in the last ten minutes of a washing cycle. We decided with a sampling interval of 1 minute. To ensure both sufficient sensor readings and maximise power usage, we set a 20% duty cycle sensing for the ESP32. It will read in sensor data and perform data transmission to the cloud for 12 seconds, then go into sleep mode for 48 seconds to save power.</a:t>
            </a:r>
          </a:p>
          <a:p>
            <a:r>
              <a:rPr lang="en-US"/>
              <a:t>Duty Cycle Sensing: Having the 20% duty cycle sensing, the average power consumption will reduce around 80% as deep sleep mode barely consumes power. Therefore, a single power bank will be able to support the ESP32 for 100 hours, which significantly improves the power usage condition.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Power Usage in Different Modes: In boot or WiFi operation, the ESP32 draws around 250 mA of current; in deep sleep mode, the power consumption is around 100 μA. Assuming the power bank has a capacity of 5,000mAh and the ESP32 is always active, the ESP32 can only last for 40 hours. This is consuming too much power and can be improved.</a:t>
            </a:r>
          </a:p>
          <a:p>
            <a:r>
              <a:rPr lang="en-US"/>
              <a:t>Determine the Interval: Knowing that each washing or drying cycle is around 30 minutes, and the system does not require data being specific to seconds to send out push notifications to the users, the ESP32 does not have to be active all the time. Furthermore, in order to capture the spin stage of the washer, which occurs in the last ten minutes of a washing cycle. We decided with a sampling interval of 1 minute. To ensure both sufficient sensor readings and maximise power usage, we set a 20% duty cycle sensing for the ESP32. It will read in sensor data and perform data transmission to the cloud for 12 seconds, then go into sleep mode for 48 seconds to save power.</a:t>
            </a:r>
          </a:p>
          <a:p>
            <a:r>
              <a:rPr lang="en-US"/>
              <a:t>Duty Cycle Sensing: Having the 20% duty cycle sensing, the average power consumption will reduce around 80% as deep sleep mode barely consumes power. Therefore, a single power bank will be able to support the ESP32 for 100 hours, which significantly improves the power usage condition.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2.jpeg" Type="http://schemas.openxmlformats.org/officeDocument/2006/relationships/image"/><Relationship Id="rId5" Target="../media/image1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96E63"/>
        </a:solidFill>
      </p:bgPr>
    </p:bg>
    <p:spTree>
      <p:nvGrpSpPr>
        <p:cNvPr id="1" name=""/>
        <p:cNvGrpSpPr/>
        <p:nvPr/>
      </p:nvGrpSpPr>
      <p:grpSpPr>
        <a:xfrm>
          <a:off x="0" y="0"/>
          <a:ext cx="0" cy="0"/>
          <a:chOff x="0" y="0"/>
          <a:chExt cx="0" cy="0"/>
        </a:xfrm>
      </p:grpSpPr>
      <p:grpSp>
        <p:nvGrpSpPr>
          <p:cNvPr name="Group 2" id="2"/>
          <p:cNvGrpSpPr/>
          <p:nvPr/>
        </p:nvGrpSpPr>
        <p:grpSpPr>
          <a:xfrm rot="0">
            <a:off x="4185468" y="7331946"/>
            <a:ext cx="1840498" cy="1840498"/>
            <a:chOff x="0" y="0"/>
            <a:chExt cx="1913890" cy="1913890"/>
          </a:xfrm>
        </p:grpSpPr>
        <p:sp>
          <p:nvSpPr>
            <p:cNvPr name="Freeform 3" id="3"/>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FFFF"/>
            </a:solidFill>
          </p:spPr>
        </p:sp>
      </p:grpSp>
      <p:grpSp>
        <p:nvGrpSpPr>
          <p:cNvPr name="Group 4" id="4"/>
          <p:cNvGrpSpPr/>
          <p:nvPr/>
        </p:nvGrpSpPr>
        <p:grpSpPr>
          <a:xfrm rot="0">
            <a:off x="12262034" y="1114556"/>
            <a:ext cx="1840498" cy="1840498"/>
            <a:chOff x="0" y="0"/>
            <a:chExt cx="1913890" cy="1913890"/>
          </a:xfrm>
        </p:grpSpPr>
        <p:sp>
          <p:nvSpPr>
            <p:cNvPr name="Freeform 5" id="5"/>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FFFF"/>
            </a:solidFill>
          </p:spPr>
        </p:sp>
      </p:grpSp>
      <p:grpSp>
        <p:nvGrpSpPr>
          <p:cNvPr name="Group 6" id="6"/>
          <p:cNvGrpSpPr/>
          <p:nvPr/>
        </p:nvGrpSpPr>
        <p:grpSpPr>
          <a:xfrm rot="0">
            <a:off x="4185468" y="1114556"/>
            <a:ext cx="9917064" cy="8057888"/>
            <a:chOff x="0" y="0"/>
            <a:chExt cx="2338813" cy="1900350"/>
          </a:xfrm>
        </p:grpSpPr>
        <p:sp>
          <p:nvSpPr>
            <p:cNvPr name="Freeform 7" id="7"/>
            <p:cNvSpPr/>
            <p:nvPr/>
          </p:nvSpPr>
          <p:spPr>
            <a:xfrm flipH="false" flipV="false" rot="0">
              <a:off x="0" y="0"/>
              <a:ext cx="2338813" cy="1900350"/>
            </a:xfrm>
            <a:custGeom>
              <a:avLst/>
              <a:gdLst/>
              <a:ahLst/>
              <a:cxnLst/>
              <a:rect r="r" b="b" t="t" l="l"/>
              <a:pathLst>
                <a:path h="1900350" w="2338813">
                  <a:moveTo>
                    <a:pt x="2214353" y="1900350"/>
                  </a:moveTo>
                  <a:lnTo>
                    <a:pt x="124460" y="1900350"/>
                  </a:lnTo>
                  <a:cubicBezTo>
                    <a:pt x="55880" y="1900350"/>
                    <a:pt x="0" y="1844470"/>
                    <a:pt x="0" y="1775890"/>
                  </a:cubicBezTo>
                  <a:lnTo>
                    <a:pt x="0" y="124460"/>
                  </a:lnTo>
                  <a:cubicBezTo>
                    <a:pt x="0" y="55880"/>
                    <a:pt x="55880" y="0"/>
                    <a:pt x="124460" y="0"/>
                  </a:cubicBezTo>
                  <a:lnTo>
                    <a:pt x="2214353" y="0"/>
                  </a:lnTo>
                  <a:cubicBezTo>
                    <a:pt x="2282933" y="0"/>
                    <a:pt x="2338813" y="55880"/>
                    <a:pt x="2338813" y="124460"/>
                  </a:cubicBezTo>
                  <a:lnTo>
                    <a:pt x="2338813" y="1775890"/>
                  </a:lnTo>
                  <a:cubicBezTo>
                    <a:pt x="2338813" y="1844470"/>
                    <a:pt x="2282933" y="1900350"/>
                    <a:pt x="2214353" y="1900350"/>
                  </a:cubicBezTo>
                  <a:close/>
                </a:path>
              </a:pathLst>
            </a:custGeom>
            <a:solidFill>
              <a:srgbClr val="FFFFFF"/>
            </a:solidFill>
          </p:spPr>
        </p:sp>
      </p:grpSp>
      <p:grpSp>
        <p:nvGrpSpPr>
          <p:cNvPr name="Group 8" id="8"/>
          <p:cNvGrpSpPr/>
          <p:nvPr/>
        </p:nvGrpSpPr>
        <p:grpSpPr>
          <a:xfrm rot="0">
            <a:off x="5467308" y="2523633"/>
            <a:ext cx="6181925" cy="5690927"/>
            <a:chOff x="0" y="0"/>
            <a:chExt cx="8242567" cy="7587903"/>
          </a:xfrm>
        </p:grpSpPr>
        <p:sp>
          <p:nvSpPr>
            <p:cNvPr name="TextBox 9" id="9"/>
            <p:cNvSpPr txBox="true"/>
            <p:nvPr/>
          </p:nvSpPr>
          <p:spPr>
            <a:xfrm rot="0">
              <a:off x="0" y="104775"/>
              <a:ext cx="8242567" cy="6595745"/>
            </a:xfrm>
            <a:prstGeom prst="rect">
              <a:avLst/>
            </a:prstGeom>
          </p:spPr>
          <p:txBody>
            <a:bodyPr anchor="t" rtlCol="false" tIns="0" lIns="0" bIns="0" rIns="0">
              <a:spAutoFit/>
            </a:bodyPr>
            <a:lstStyle/>
            <a:p>
              <a:pPr algn="l">
                <a:lnSpc>
                  <a:spcPts val="9630"/>
                </a:lnSpc>
              </a:pPr>
              <a:r>
                <a:rPr lang="en-US" sz="9000">
                  <a:solidFill>
                    <a:srgbClr val="196E63"/>
                  </a:solidFill>
                  <a:latin typeface="League Spartan"/>
                  <a:ea typeface="League Spartan"/>
                  <a:cs typeface="League Spartan"/>
                  <a:sym typeface="League Spartan"/>
                </a:rPr>
                <a:t>Don’t Leave Laundry Messy</a:t>
              </a:r>
            </a:p>
          </p:txBody>
        </p:sp>
        <p:sp>
          <p:nvSpPr>
            <p:cNvPr name="TextBox 10" id="10"/>
            <p:cNvSpPr txBox="true"/>
            <p:nvPr/>
          </p:nvSpPr>
          <p:spPr>
            <a:xfrm rot="0">
              <a:off x="0" y="7006742"/>
              <a:ext cx="8242567" cy="581161"/>
            </a:xfrm>
            <a:prstGeom prst="rect">
              <a:avLst/>
            </a:prstGeom>
          </p:spPr>
          <p:txBody>
            <a:bodyPr anchor="t" rtlCol="false" tIns="0" lIns="0" bIns="0" rIns="0">
              <a:spAutoFit/>
            </a:bodyPr>
            <a:lstStyle/>
            <a:p>
              <a:pPr algn="l">
                <a:lnSpc>
                  <a:spcPts val="3779"/>
                </a:lnSpc>
              </a:pPr>
              <a:r>
                <a:rPr lang="en-US" sz="2699">
                  <a:solidFill>
                    <a:srgbClr val="000000"/>
                  </a:solidFill>
                  <a:latin typeface="Nunito"/>
                  <a:ea typeface="Nunito"/>
                  <a:cs typeface="Nunito"/>
                  <a:sym typeface="Nunito"/>
                </a:rPr>
                <a:t>Team 17</a:t>
              </a:r>
            </a:p>
          </p:txBody>
        </p:sp>
      </p:grpSp>
      <p:grpSp>
        <p:nvGrpSpPr>
          <p:cNvPr name="Group 11" id="11"/>
          <p:cNvGrpSpPr/>
          <p:nvPr/>
        </p:nvGrpSpPr>
        <p:grpSpPr>
          <a:xfrm rot="-5400000">
            <a:off x="12451660" y="2765428"/>
            <a:ext cx="6378017" cy="3076273"/>
            <a:chOff x="0" y="0"/>
            <a:chExt cx="1933766" cy="932703"/>
          </a:xfrm>
        </p:grpSpPr>
        <p:sp>
          <p:nvSpPr>
            <p:cNvPr name="Freeform 12" id="12"/>
            <p:cNvSpPr/>
            <p:nvPr/>
          </p:nvSpPr>
          <p:spPr>
            <a:xfrm flipH="false" flipV="false" rot="0">
              <a:off x="0" y="0"/>
              <a:ext cx="1933766" cy="932703"/>
            </a:xfrm>
            <a:custGeom>
              <a:avLst/>
              <a:gdLst/>
              <a:ahLst/>
              <a:cxnLst/>
              <a:rect r="r" b="b" t="t" l="l"/>
              <a:pathLst>
                <a:path h="932703" w="1933766">
                  <a:moveTo>
                    <a:pt x="1809306" y="932703"/>
                  </a:moveTo>
                  <a:lnTo>
                    <a:pt x="124460" y="932703"/>
                  </a:lnTo>
                  <a:cubicBezTo>
                    <a:pt x="55880" y="932703"/>
                    <a:pt x="0" y="876823"/>
                    <a:pt x="0" y="808243"/>
                  </a:cubicBezTo>
                  <a:lnTo>
                    <a:pt x="0" y="124460"/>
                  </a:lnTo>
                  <a:cubicBezTo>
                    <a:pt x="0" y="55880"/>
                    <a:pt x="55880" y="0"/>
                    <a:pt x="124460" y="0"/>
                  </a:cubicBezTo>
                  <a:lnTo>
                    <a:pt x="1809306" y="0"/>
                  </a:lnTo>
                  <a:cubicBezTo>
                    <a:pt x="1877886" y="0"/>
                    <a:pt x="1933766" y="55880"/>
                    <a:pt x="1933766" y="124460"/>
                  </a:cubicBezTo>
                  <a:lnTo>
                    <a:pt x="1933766" y="808243"/>
                  </a:lnTo>
                  <a:cubicBezTo>
                    <a:pt x="1933766" y="876823"/>
                    <a:pt x="1877886" y="932703"/>
                    <a:pt x="1809306" y="932703"/>
                  </a:cubicBezTo>
                  <a:close/>
                </a:path>
              </a:pathLst>
            </a:custGeom>
            <a:solidFill>
              <a:srgbClr val="2E4494"/>
            </a:solidFill>
          </p:spPr>
        </p:sp>
      </p:grpSp>
      <p:grpSp>
        <p:nvGrpSpPr>
          <p:cNvPr name="Group 13" id="13"/>
          <p:cNvGrpSpPr/>
          <p:nvPr/>
        </p:nvGrpSpPr>
        <p:grpSpPr>
          <a:xfrm rot="-5400000">
            <a:off x="14082256" y="1179583"/>
            <a:ext cx="3060147" cy="3076273"/>
            <a:chOff x="0" y="0"/>
            <a:chExt cx="927814" cy="932703"/>
          </a:xfrm>
        </p:grpSpPr>
        <p:sp>
          <p:nvSpPr>
            <p:cNvPr name="Freeform 14" id="14"/>
            <p:cNvSpPr/>
            <p:nvPr/>
          </p:nvSpPr>
          <p:spPr>
            <a:xfrm flipH="false" flipV="false" rot="0">
              <a:off x="0" y="0"/>
              <a:ext cx="927814" cy="932703"/>
            </a:xfrm>
            <a:custGeom>
              <a:avLst/>
              <a:gdLst/>
              <a:ahLst/>
              <a:cxnLst/>
              <a:rect r="r" b="b" t="t" l="l"/>
              <a:pathLst>
                <a:path h="932703" w="927814">
                  <a:moveTo>
                    <a:pt x="803353" y="932703"/>
                  </a:moveTo>
                  <a:lnTo>
                    <a:pt x="124460" y="932703"/>
                  </a:lnTo>
                  <a:cubicBezTo>
                    <a:pt x="55880" y="932703"/>
                    <a:pt x="0" y="876823"/>
                    <a:pt x="0" y="808243"/>
                  </a:cubicBezTo>
                  <a:lnTo>
                    <a:pt x="0" y="124460"/>
                  </a:lnTo>
                  <a:cubicBezTo>
                    <a:pt x="0" y="55880"/>
                    <a:pt x="55880" y="0"/>
                    <a:pt x="124460" y="0"/>
                  </a:cubicBezTo>
                  <a:lnTo>
                    <a:pt x="803354" y="0"/>
                  </a:lnTo>
                  <a:cubicBezTo>
                    <a:pt x="871934" y="0"/>
                    <a:pt x="927814" y="55880"/>
                    <a:pt x="927814" y="124460"/>
                  </a:cubicBezTo>
                  <a:lnTo>
                    <a:pt x="927814" y="808243"/>
                  </a:lnTo>
                  <a:cubicBezTo>
                    <a:pt x="927814" y="876823"/>
                    <a:pt x="871934" y="932703"/>
                    <a:pt x="803354" y="932703"/>
                  </a:cubicBezTo>
                  <a:close/>
                </a:path>
              </a:pathLst>
            </a:custGeom>
            <a:solidFill>
              <a:srgbClr val="000000">
                <a:alpha val="0"/>
              </a:srgbClr>
            </a:solidFill>
          </p:spPr>
        </p:sp>
      </p:grpSp>
      <p:sp>
        <p:nvSpPr>
          <p:cNvPr name="Freeform 15" id="15"/>
          <p:cNvSpPr/>
          <p:nvPr/>
        </p:nvSpPr>
        <p:spPr>
          <a:xfrm flipH="false" flipV="false" rot="-5400000">
            <a:off x="14645800" y="4965372"/>
            <a:ext cx="1933059" cy="1933059"/>
          </a:xfrm>
          <a:custGeom>
            <a:avLst/>
            <a:gdLst/>
            <a:ahLst/>
            <a:cxnLst/>
            <a:rect r="r" b="b" t="t" l="l"/>
            <a:pathLst>
              <a:path h="1933059" w="1933059">
                <a:moveTo>
                  <a:pt x="0" y="0"/>
                </a:moveTo>
                <a:lnTo>
                  <a:pt x="1933059" y="0"/>
                </a:lnTo>
                <a:lnTo>
                  <a:pt x="1933059" y="1933059"/>
                </a:lnTo>
                <a:lnTo>
                  <a:pt x="0" y="19330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5400000">
            <a:off x="14102532" y="1114556"/>
            <a:ext cx="3086059" cy="3086059"/>
          </a:xfrm>
          <a:custGeom>
            <a:avLst/>
            <a:gdLst/>
            <a:ahLst/>
            <a:cxnLst/>
            <a:rect r="r" b="b" t="t" l="l"/>
            <a:pathLst>
              <a:path h="3086059" w="3086059">
                <a:moveTo>
                  <a:pt x="0" y="0"/>
                </a:moveTo>
                <a:lnTo>
                  <a:pt x="3086059" y="0"/>
                </a:lnTo>
                <a:lnTo>
                  <a:pt x="3086059" y="3086059"/>
                </a:lnTo>
                <a:lnTo>
                  <a:pt x="0" y="30860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7" id="17"/>
          <p:cNvGrpSpPr/>
          <p:nvPr/>
        </p:nvGrpSpPr>
        <p:grpSpPr>
          <a:xfrm rot="-5400000">
            <a:off x="790716" y="3053239"/>
            <a:ext cx="3655645" cy="3120390"/>
            <a:chOff x="0" y="0"/>
            <a:chExt cx="1092694" cy="932703"/>
          </a:xfrm>
        </p:grpSpPr>
        <p:sp>
          <p:nvSpPr>
            <p:cNvPr name="Freeform 18" id="18"/>
            <p:cNvSpPr/>
            <p:nvPr/>
          </p:nvSpPr>
          <p:spPr>
            <a:xfrm flipH="false" flipV="false" rot="0">
              <a:off x="0" y="0"/>
              <a:ext cx="1092694" cy="932703"/>
            </a:xfrm>
            <a:custGeom>
              <a:avLst/>
              <a:gdLst/>
              <a:ahLst/>
              <a:cxnLst/>
              <a:rect r="r" b="b" t="t" l="l"/>
              <a:pathLst>
                <a:path h="932703" w="1092694">
                  <a:moveTo>
                    <a:pt x="968234" y="932703"/>
                  </a:moveTo>
                  <a:lnTo>
                    <a:pt x="124460" y="932703"/>
                  </a:lnTo>
                  <a:cubicBezTo>
                    <a:pt x="55880" y="932703"/>
                    <a:pt x="0" y="876823"/>
                    <a:pt x="0" y="808243"/>
                  </a:cubicBezTo>
                  <a:lnTo>
                    <a:pt x="0" y="124460"/>
                  </a:lnTo>
                  <a:cubicBezTo>
                    <a:pt x="0" y="55880"/>
                    <a:pt x="55880" y="0"/>
                    <a:pt x="124460" y="0"/>
                  </a:cubicBezTo>
                  <a:lnTo>
                    <a:pt x="968234" y="0"/>
                  </a:lnTo>
                  <a:cubicBezTo>
                    <a:pt x="1036814" y="0"/>
                    <a:pt x="1092694" y="55880"/>
                    <a:pt x="1092694" y="124460"/>
                  </a:cubicBezTo>
                  <a:lnTo>
                    <a:pt x="1092694" y="808243"/>
                  </a:lnTo>
                  <a:cubicBezTo>
                    <a:pt x="1092694" y="876823"/>
                    <a:pt x="1036814" y="932703"/>
                    <a:pt x="968234" y="932703"/>
                  </a:cubicBezTo>
                  <a:close/>
                </a:path>
              </a:pathLst>
            </a:custGeom>
            <a:solidFill>
              <a:srgbClr val="E2C8CA"/>
            </a:solidFill>
          </p:spPr>
        </p:sp>
      </p:grpSp>
      <p:grpSp>
        <p:nvGrpSpPr>
          <p:cNvPr name="Group 19" id="19"/>
          <p:cNvGrpSpPr>
            <a:grpSpLocks noChangeAspect="true"/>
          </p:cNvGrpSpPr>
          <p:nvPr/>
        </p:nvGrpSpPr>
        <p:grpSpPr>
          <a:xfrm rot="-5400000">
            <a:off x="1805071" y="3613442"/>
            <a:ext cx="1626935" cy="1626935"/>
            <a:chOff x="1371600" y="6705600"/>
            <a:chExt cx="10972800" cy="10972800"/>
          </a:xfrm>
        </p:grpSpPr>
        <p:sp>
          <p:nvSpPr>
            <p:cNvPr name="Freeform 20" id="20"/>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FFFFFF"/>
            </a:solidFill>
          </p:spPr>
        </p:sp>
      </p:grpSp>
      <p:grpSp>
        <p:nvGrpSpPr>
          <p:cNvPr name="Group 21" id="21"/>
          <p:cNvGrpSpPr>
            <a:grpSpLocks noChangeAspect="true"/>
          </p:cNvGrpSpPr>
          <p:nvPr/>
        </p:nvGrpSpPr>
        <p:grpSpPr>
          <a:xfrm rot="-5400000">
            <a:off x="1493044" y="7087208"/>
            <a:ext cx="2141603" cy="2141603"/>
            <a:chOff x="1371600" y="6705600"/>
            <a:chExt cx="10972800" cy="10972800"/>
          </a:xfrm>
        </p:grpSpPr>
        <p:sp>
          <p:nvSpPr>
            <p:cNvPr name="Freeform 22" id="22"/>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000000">
                <a:alpha val="0"/>
              </a:srgbClr>
            </a:solidFill>
          </p:spPr>
        </p:sp>
      </p:grpSp>
      <p:sp>
        <p:nvSpPr>
          <p:cNvPr name="Freeform 23" id="23"/>
          <p:cNvSpPr/>
          <p:nvPr/>
        </p:nvSpPr>
        <p:spPr>
          <a:xfrm flipH="false" flipV="false" rot="-5400000">
            <a:off x="1058343" y="6061473"/>
            <a:ext cx="3127125" cy="3127125"/>
          </a:xfrm>
          <a:custGeom>
            <a:avLst/>
            <a:gdLst/>
            <a:ahLst/>
            <a:cxnLst/>
            <a:rect r="r" b="b" t="t" l="l"/>
            <a:pathLst>
              <a:path h="3127125" w="3127125">
                <a:moveTo>
                  <a:pt x="0" y="0"/>
                </a:moveTo>
                <a:lnTo>
                  <a:pt x="3127125" y="0"/>
                </a:lnTo>
                <a:lnTo>
                  <a:pt x="3127125" y="3127125"/>
                </a:lnTo>
                <a:lnTo>
                  <a:pt x="0" y="31271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4" id="24"/>
          <p:cNvGrpSpPr>
            <a:grpSpLocks noChangeAspect="true"/>
          </p:cNvGrpSpPr>
          <p:nvPr/>
        </p:nvGrpSpPr>
        <p:grpSpPr>
          <a:xfrm rot="0">
            <a:off x="1028700" y="6941978"/>
            <a:ext cx="2605947" cy="1372849"/>
            <a:chOff x="0" y="0"/>
            <a:chExt cx="1610360" cy="848360"/>
          </a:xfrm>
        </p:grpSpPr>
        <p:sp>
          <p:nvSpPr>
            <p:cNvPr name="Freeform 25" id="25"/>
            <p:cNvSpPr/>
            <p:nvPr/>
          </p:nvSpPr>
          <p:spPr>
            <a:xfrm flipH="false" flipV="false" rot="0">
              <a:off x="-31750" y="0"/>
              <a:ext cx="1675130" cy="880110"/>
            </a:xfrm>
            <a:custGeom>
              <a:avLst/>
              <a:gdLst/>
              <a:ahLst/>
              <a:cxnLst/>
              <a:rect r="r" b="b" t="t" l="l"/>
              <a:pathLst>
                <a:path h="880110" w="167513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FFFFF"/>
            </a:solid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E4494"/>
        </a:solidFill>
      </p:bgPr>
    </p:bg>
    <p:spTree>
      <p:nvGrpSpPr>
        <p:cNvPr id="1" name=""/>
        <p:cNvGrpSpPr/>
        <p:nvPr/>
      </p:nvGrpSpPr>
      <p:grpSpPr>
        <a:xfrm>
          <a:off x="0" y="0"/>
          <a:ext cx="0" cy="0"/>
          <a:chOff x="0" y="0"/>
          <a:chExt cx="0" cy="0"/>
        </a:xfrm>
      </p:grpSpPr>
      <p:grpSp>
        <p:nvGrpSpPr>
          <p:cNvPr name="Group 2" id="2"/>
          <p:cNvGrpSpPr/>
          <p:nvPr/>
        </p:nvGrpSpPr>
        <p:grpSpPr>
          <a:xfrm rot="0">
            <a:off x="11995786" y="1028700"/>
            <a:ext cx="5263514" cy="8229600"/>
            <a:chOff x="0" y="0"/>
            <a:chExt cx="1224092" cy="1913890"/>
          </a:xfrm>
        </p:grpSpPr>
        <p:sp>
          <p:nvSpPr>
            <p:cNvPr name="Freeform 3" id="3"/>
            <p:cNvSpPr/>
            <p:nvPr/>
          </p:nvSpPr>
          <p:spPr>
            <a:xfrm flipH="false" flipV="false" rot="0">
              <a:off x="0" y="0"/>
              <a:ext cx="1224092" cy="1913890"/>
            </a:xfrm>
            <a:custGeom>
              <a:avLst/>
              <a:gdLst/>
              <a:ahLst/>
              <a:cxnLst/>
              <a:rect r="r" b="b" t="t" l="l"/>
              <a:pathLst>
                <a:path h="1913890" w="1224092">
                  <a:moveTo>
                    <a:pt x="1099632" y="1913890"/>
                  </a:moveTo>
                  <a:lnTo>
                    <a:pt x="124460" y="1913890"/>
                  </a:lnTo>
                  <a:cubicBezTo>
                    <a:pt x="55880" y="1913890"/>
                    <a:pt x="0" y="1858010"/>
                    <a:pt x="0" y="1789430"/>
                  </a:cubicBezTo>
                  <a:lnTo>
                    <a:pt x="0" y="124460"/>
                  </a:lnTo>
                  <a:cubicBezTo>
                    <a:pt x="0" y="55880"/>
                    <a:pt x="55880" y="0"/>
                    <a:pt x="124460" y="0"/>
                  </a:cubicBezTo>
                  <a:lnTo>
                    <a:pt x="1099632" y="0"/>
                  </a:lnTo>
                  <a:cubicBezTo>
                    <a:pt x="1168212" y="0"/>
                    <a:pt x="1224092" y="55880"/>
                    <a:pt x="1224092" y="124460"/>
                  </a:cubicBezTo>
                  <a:lnTo>
                    <a:pt x="1224092" y="1789430"/>
                  </a:lnTo>
                  <a:cubicBezTo>
                    <a:pt x="1224092" y="1858010"/>
                    <a:pt x="1168212" y="1913890"/>
                    <a:pt x="1099632" y="1913890"/>
                  </a:cubicBezTo>
                  <a:close/>
                </a:path>
              </a:pathLst>
            </a:custGeom>
            <a:solidFill>
              <a:srgbClr val="196E63"/>
            </a:solidFill>
          </p:spPr>
        </p:sp>
      </p:grpSp>
      <p:grpSp>
        <p:nvGrpSpPr>
          <p:cNvPr name="Group 4" id="4"/>
          <p:cNvGrpSpPr/>
          <p:nvPr/>
        </p:nvGrpSpPr>
        <p:grpSpPr>
          <a:xfrm rot="0">
            <a:off x="1028700" y="1028700"/>
            <a:ext cx="13740800" cy="8229600"/>
            <a:chOff x="0" y="0"/>
            <a:chExt cx="4652979" cy="2786749"/>
          </a:xfrm>
        </p:grpSpPr>
        <p:sp>
          <p:nvSpPr>
            <p:cNvPr name="Freeform 5" id="5"/>
            <p:cNvSpPr/>
            <p:nvPr/>
          </p:nvSpPr>
          <p:spPr>
            <a:xfrm flipH="false" flipV="false" rot="0">
              <a:off x="0" y="0"/>
              <a:ext cx="4652979" cy="2786749"/>
            </a:xfrm>
            <a:custGeom>
              <a:avLst/>
              <a:gdLst/>
              <a:ahLst/>
              <a:cxnLst/>
              <a:rect r="r" b="b" t="t" l="l"/>
              <a:pathLst>
                <a:path h="2786749" w="4652979">
                  <a:moveTo>
                    <a:pt x="4528519" y="2786749"/>
                  </a:moveTo>
                  <a:lnTo>
                    <a:pt x="124460" y="2786749"/>
                  </a:lnTo>
                  <a:cubicBezTo>
                    <a:pt x="55880" y="2786749"/>
                    <a:pt x="0" y="2730869"/>
                    <a:pt x="0" y="2662288"/>
                  </a:cubicBezTo>
                  <a:lnTo>
                    <a:pt x="0" y="124460"/>
                  </a:lnTo>
                  <a:cubicBezTo>
                    <a:pt x="0" y="55880"/>
                    <a:pt x="55880" y="0"/>
                    <a:pt x="124460" y="0"/>
                  </a:cubicBezTo>
                  <a:lnTo>
                    <a:pt x="4528519" y="0"/>
                  </a:lnTo>
                  <a:cubicBezTo>
                    <a:pt x="4597099" y="0"/>
                    <a:pt x="4652979" y="55880"/>
                    <a:pt x="4652979" y="124460"/>
                  </a:cubicBezTo>
                  <a:lnTo>
                    <a:pt x="4652979" y="2662289"/>
                  </a:lnTo>
                  <a:cubicBezTo>
                    <a:pt x="4652979" y="2730869"/>
                    <a:pt x="4597099" y="2786749"/>
                    <a:pt x="4528519" y="2786749"/>
                  </a:cubicBezTo>
                  <a:close/>
                </a:path>
              </a:pathLst>
            </a:custGeom>
            <a:solidFill>
              <a:srgbClr val="FFFFFF"/>
            </a:solidFill>
          </p:spPr>
        </p:sp>
      </p:grpSp>
      <p:sp>
        <p:nvSpPr>
          <p:cNvPr name="Freeform 6" id="6"/>
          <p:cNvSpPr/>
          <p:nvPr/>
        </p:nvSpPr>
        <p:spPr>
          <a:xfrm flipH="false" flipV="false" rot="0">
            <a:off x="15413707" y="7445588"/>
            <a:ext cx="1201386" cy="1201386"/>
          </a:xfrm>
          <a:custGeom>
            <a:avLst/>
            <a:gdLst/>
            <a:ahLst/>
            <a:cxnLst/>
            <a:rect r="r" b="b" t="t" l="l"/>
            <a:pathLst>
              <a:path h="1201386" w="1201386">
                <a:moveTo>
                  <a:pt x="0" y="0"/>
                </a:moveTo>
                <a:lnTo>
                  <a:pt x="1201386" y="0"/>
                </a:lnTo>
                <a:lnTo>
                  <a:pt x="1201386" y="1201386"/>
                </a:lnTo>
                <a:lnTo>
                  <a:pt x="0" y="12013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056581" y="2701155"/>
            <a:ext cx="11430436" cy="5807481"/>
            <a:chOff x="0" y="0"/>
            <a:chExt cx="15240582" cy="7743308"/>
          </a:xfrm>
        </p:grpSpPr>
        <p:sp>
          <p:nvSpPr>
            <p:cNvPr name="TextBox 8" id="8"/>
            <p:cNvSpPr txBox="true"/>
            <p:nvPr/>
          </p:nvSpPr>
          <p:spPr>
            <a:xfrm rot="0">
              <a:off x="0" y="28575"/>
              <a:ext cx="15240582" cy="1286855"/>
            </a:xfrm>
            <a:prstGeom prst="rect">
              <a:avLst/>
            </a:prstGeom>
          </p:spPr>
          <p:txBody>
            <a:bodyPr anchor="t" rtlCol="false" tIns="0" lIns="0" bIns="0" rIns="0">
              <a:spAutoFit/>
            </a:bodyPr>
            <a:lstStyle/>
            <a:p>
              <a:pPr algn="l">
                <a:lnSpc>
                  <a:spcPts val="7475"/>
                </a:lnSpc>
              </a:pPr>
              <a:r>
                <a:rPr lang="en-US" sz="6500">
                  <a:solidFill>
                    <a:srgbClr val="196E63"/>
                  </a:solidFill>
                  <a:latin typeface="League Spartan"/>
                  <a:ea typeface="League Spartan"/>
                  <a:cs typeface="League Spartan"/>
                  <a:sym typeface="League Spartan"/>
                </a:rPr>
                <a:t>Problem &amp; Motivation</a:t>
              </a:r>
            </a:p>
          </p:txBody>
        </p:sp>
        <p:sp>
          <p:nvSpPr>
            <p:cNvPr name="TextBox 9" id="9"/>
            <p:cNvSpPr txBox="true"/>
            <p:nvPr/>
          </p:nvSpPr>
          <p:spPr>
            <a:xfrm rot="0">
              <a:off x="0" y="1467277"/>
              <a:ext cx="15240582" cy="574765"/>
            </a:xfrm>
            <a:prstGeom prst="rect">
              <a:avLst/>
            </a:prstGeom>
          </p:spPr>
          <p:txBody>
            <a:bodyPr anchor="t" rtlCol="false" tIns="0" lIns="0" bIns="0" rIns="0">
              <a:spAutoFit/>
            </a:bodyPr>
            <a:lstStyle/>
            <a:p>
              <a:pPr algn="l">
                <a:lnSpc>
                  <a:spcPts val="3640"/>
                </a:lnSpc>
              </a:pPr>
            </a:p>
          </p:txBody>
        </p:sp>
        <p:sp>
          <p:nvSpPr>
            <p:cNvPr name="TextBox 10" id="10"/>
            <p:cNvSpPr txBox="true"/>
            <p:nvPr/>
          </p:nvSpPr>
          <p:spPr>
            <a:xfrm rot="0">
              <a:off x="0" y="2553079"/>
              <a:ext cx="14968604" cy="961736"/>
            </a:xfrm>
            <a:prstGeom prst="rect">
              <a:avLst/>
            </a:prstGeom>
          </p:spPr>
          <p:txBody>
            <a:bodyPr anchor="t" rtlCol="false" tIns="0" lIns="0" bIns="0" rIns="0">
              <a:spAutoFit/>
            </a:bodyPr>
            <a:lstStyle/>
            <a:p>
              <a:pPr algn="l">
                <a:lnSpc>
                  <a:spcPts val="5849"/>
                </a:lnSpc>
              </a:pPr>
              <a:r>
                <a:rPr lang="en-US" sz="4499">
                  <a:solidFill>
                    <a:srgbClr val="CF6C58"/>
                  </a:solidFill>
                  <a:latin typeface="League Spartan"/>
                  <a:ea typeface="League Spartan"/>
                  <a:cs typeface="League Spartan"/>
                  <a:sym typeface="League Spartan"/>
                </a:rPr>
                <a:t>Problem</a:t>
              </a:r>
            </a:p>
          </p:txBody>
        </p:sp>
        <p:sp>
          <p:nvSpPr>
            <p:cNvPr name="TextBox 11" id="11"/>
            <p:cNvSpPr txBox="true"/>
            <p:nvPr/>
          </p:nvSpPr>
          <p:spPr>
            <a:xfrm rot="0">
              <a:off x="0" y="3612754"/>
              <a:ext cx="14968604" cy="1189958"/>
            </a:xfrm>
            <a:prstGeom prst="rect">
              <a:avLst/>
            </a:prstGeom>
          </p:spPr>
          <p:txBody>
            <a:bodyPr anchor="t" rtlCol="false" tIns="0" lIns="0" bIns="0" rIns="0">
              <a:spAutoFit/>
            </a:bodyPr>
            <a:lstStyle/>
            <a:p>
              <a:pPr algn="l">
                <a:lnSpc>
                  <a:spcPts val="3639"/>
                </a:lnSpc>
              </a:pPr>
              <a:r>
                <a:rPr lang="en-US" sz="2599">
                  <a:solidFill>
                    <a:srgbClr val="000000"/>
                  </a:solidFill>
                  <a:latin typeface="Nunito"/>
                  <a:ea typeface="Nunito"/>
                  <a:cs typeface="Nunito"/>
                  <a:sym typeface="Nunito"/>
                </a:rPr>
                <a:t>Residents face frustration and inconvenience with limited laundry facilities, as they have to check machine availability in-person.</a:t>
              </a:r>
            </a:p>
          </p:txBody>
        </p:sp>
        <p:sp>
          <p:nvSpPr>
            <p:cNvPr name="TextBox 12" id="12"/>
            <p:cNvSpPr txBox="true"/>
            <p:nvPr/>
          </p:nvSpPr>
          <p:spPr>
            <a:xfrm rot="0">
              <a:off x="0" y="5493675"/>
              <a:ext cx="14968604" cy="961736"/>
            </a:xfrm>
            <a:prstGeom prst="rect">
              <a:avLst/>
            </a:prstGeom>
          </p:spPr>
          <p:txBody>
            <a:bodyPr anchor="t" rtlCol="false" tIns="0" lIns="0" bIns="0" rIns="0">
              <a:spAutoFit/>
            </a:bodyPr>
            <a:lstStyle/>
            <a:p>
              <a:pPr algn="l">
                <a:lnSpc>
                  <a:spcPts val="5849"/>
                </a:lnSpc>
              </a:pPr>
              <a:r>
                <a:rPr lang="en-US" sz="4499">
                  <a:solidFill>
                    <a:srgbClr val="CF6C58"/>
                  </a:solidFill>
                  <a:latin typeface="League Spartan"/>
                  <a:ea typeface="League Spartan"/>
                  <a:cs typeface="League Spartan"/>
                  <a:sym typeface="League Spartan"/>
                </a:rPr>
                <a:t>Motivation</a:t>
              </a:r>
            </a:p>
          </p:txBody>
        </p:sp>
        <p:sp>
          <p:nvSpPr>
            <p:cNvPr name="TextBox 13" id="13"/>
            <p:cNvSpPr txBox="true"/>
            <p:nvPr/>
          </p:nvSpPr>
          <p:spPr>
            <a:xfrm rot="0">
              <a:off x="0" y="6553350"/>
              <a:ext cx="14968604" cy="1189958"/>
            </a:xfrm>
            <a:prstGeom prst="rect">
              <a:avLst/>
            </a:prstGeom>
          </p:spPr>
          <p:txBody>
            <a:bodyPr anchor="t" rtlCol="false" tIns="0" lIns="0" bIns="0" rIns="0">
              <a:spAutoFit/>
            </a:bodyPr>
            <a:lstStyle/>
            <a:p>
              <a:pPr algn="l">
                <a:lnSpc>
                  <a:spcPts val="3639"/>
                </a:lnSpc>
              </a:pPr>
              <a:r>
                <a:rPr lang="en-US" sz="2599">
                  <a:solidFill>
                    <a:srgbClr val="000000"/>
                  </a:solidFill>
                  <a:latin typeface="Nunito"/>
                  <a:ea typeface="Nunito"/>
                  <a:cs typeface="Nunito"/>
                  <a:sym typeface="Nunito"/>
                </a:rPr>
                <a:t>To make our lives easier (lazier) and reduce the need to check the laundry machines in person :))</a:t>
              </a:r>
            </a:p>
          </p:txBody>
        </p:sp>
      </p:grpSp>
      <p:grpSp>
        <p:nvGrpSpPr>
          <p:cNvPr name="Group 14" id="14"/>
          <p:cNvGrpSpPr/>
          <p:nvPr/>
        </p:nvGrpSpPr>
        <p:grpSpPr>
          <a:xfrm rot="0">
            <a:off x="13502656" y="1028700"/>
            <a:ext cx="1282483" cy="1282483"/>
            <a:chOff x="0" y="0"/>
            <a:chExt cx="1913890" cy="1913890"/>
          </a:xfrm>
        </p:grpSpPr>
        <p:sp>
          <p:nvSpPr>
            <p:cNvPr name="Freeform 15" id="15"/>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FFFF"/>
            </a:solidFill>
          </p:spPr>
        </p:sp>
      </p:grpSp>
      <p:grpSp>
        <p:nvGrpSpPr>
          <p:cNvPr name="Group 16" id="16"/>
          <p:cNvGrpSpPr/>
          <p:nvPr/>
        </p:nvGrpSpPr>
        <p:grpSpPr>
          <a:xfrm rot="0">
            <a:off x="13487017" y="7975817"/>
            <a:ext cx="1282483" cy="1282483"/>
            <a:chOff x="0" y="0"/>
            <a:chExt cx="1913890" cy="1913890"/>
          </a:xfrm>
        </p:grpSpPr>
        <p:sp>
          <p:nvSpPr>
            <p:cNvPr name="Freeform 17" id="17"/>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FFFF"/>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F6C58"/>
        </a:solidFill>
      </p:bgPr>
    </p:bg>
    <p:spTree>
      <p:nvGrpSpPr>
        <p:cNvPr id="1" name=""/>
        <p:cNvGrpSpPr/>
        <p:nvPr/>
      </p:nvGrpSpPr>
      <p:grpSpPr>
        <a:xfrm>
          <a:off x="0" y="0"/>
          <a:ext cx="0" cy="0"/>
          <a:chOff x="0" y="0"/>
          <a:chExt cx="0" cy="0"/>
        </a:xfrm>
      </p:grpSpPr>
      <p:grpSp>
        <p:nvGrpSpPr>
          <p:cNvPr name="Group 2" id="2"/>
          <p:cNvGrpSpPr/>
          <p:nvPr/>
        </p:nvGrpSpPr>
        <p:grpSpPr>
          <a:xfrm rot="0">
            <a:off x="11434865" y="1028700"/>
            <a:ext cx="5824435" cy="6800886"/>
            <a:chOff x="0" y="0"/>
            <a:chExt cx="1590619" cy="1857282"/>
          </a:xfrm>
        </p:grpSpPr>
        <p:sp>
          <p:nvSpPr>
            <p:cNvPr name="Freeform 3" id="3"/>
            <p:cNvSpPr/>
            <p:nvPr/>
          </p:nvSpPr>
          <p:spPr>
            <a:xfrm flipH="false" flipV="false" rot="0">
              <a:off x="0" y="0"/>
              <a:ext cx="1590619" cy="1857282"/>
            </a:xfrm>
            <a:custGeom>
              <a:avLst/>
              <a:gdLst/>
              <a:ahLst/>
              <a:cxnLst/>
              <a:rect r="r" b="b" t="t" l="l"/>
              <a:pathLst>
                <a:path h="1857282" w="1590619">
                  <a:moveTo>
                    <a:pt x="1466159" y="1857282"/>
                  </a:moveTo>
                  <a:lnTo>
                    <a:pt x="124460" y="1857282"/>
                  </a:lnTo>
                  <a:cubicBezTo>
                    <a:pt x="55880" y="1857282"/>
                    <a:pt x="0" y="1801402"/>
                    <a:pt x="0" y="1732822"/>
                  </a:cubicBezTo>
                  <a:lnTo>
                    <a:pt x="0" y="124460"/>
                  </a:lnTo>
                  <a:cubicBezTo>
                    <a:pt x="0" y="55880"/>
                    <a:pt x="55880" y="0"/>
                    <a:pt x="124460" y="0"/>
                  </a:cubicBezTo>
                  <a:lnTo>
                    <a:pt x="1466159" y="0"/>
                  </a:lnTo>
                  <a:cubicBezTo>
                    <a:pt x="1534739" y="0"/>
                    <a:pt x="1590619" y="55880"/>
                    <a:pt x="1590619" y="124460"/>
                  </a:cubicBezTo>
                  <a:lnTo>
                    <a:pt x="1590619" y="1732822"/>
                  </a:lnTo>
                  <a:cubicBezTo>
                    <a:pt x="1590619" y="1801402"/>
                    <a:pt x="1534739" y="1857282"/>
                    <a:pt x="1466159" y="1857282"/>
                  </a:cubicBezTo>
                  <a:close/>
                </a:path>
              </a:pathLst>
            </a:custGeom>
            <a:solidFill>
              <a:srgbClr val="FFFFFF"/>
            </a:solidFill>
          </p:spPr>
        </p:sp>
      </p:grpSp>
      <p:sp>
        <p:nvSpPr>
          <p:cNvPr name="TextBox 4" id="4"/>
          <p:cNvSpPr txBox="true"/>
          <p:nvPr/>
        </p:nvSpPr>
        <p:spPr>
          <a:xfrm rot="0">
            <a:off x="12002356" y="2037698"/>
            <a:ext cx="4689452" cy="953297"/>
          </a:xfrm>
          <a:prstGeom prst="rect">
            <a:avLst/>
          </a:prstGeom>
        </p:spPr>
        <p:txBody>
          <a:bodyPr anchor="t" rtlCol="false" tIns="0" lIns="0" bIns="0" rIns="0">
            <a:spAutoFit/>
          </a:bodyPr>
          <a:lstStyle/>
          <a:p>
            <a:pPr algn="l">
              <a:lnSpc>
                <a:spcPts val="7475"/>
              </a:lnSpc>
            </a:pPr>
            <a:r>
              <a:rPr lang="en-US" sz="6500">
                <a:solidFill>
                  <a:srgbClr val="2E4494"/>
                </a:solidFill>
                <a:latin typeface="League Spartan"/>
                <a:ea typeface="League Spartan"/>
                <a:cs typeface="League Spartan"/>
                <a:sym typeface="League Spartan"/>
              </a:rPr>
              <a:t>Overview</a:t>
            </a:r>
          </a:p>
        </p:txBody>
      </p:sp>
      <p:grpSp>
        <p:nvGrpSpPr>
          <p:cNvPr name="Group 5" id="5"/>
          <p:cNvGrpSpPr/>
          <p:nvPr/>
        </p:nvGrpSpPr>
        <p:grpSpPr>
          <a:xfrm rot="0">
            <a:off x="11068471" y="7006683"/>
            <a:ext cx="6190829" cy="2429401"/>
            <a:chOff x="0" y="0"/>
            <a:chExt cx="1690679" cy="663455"/>
          </a:xfrm>
        </p:grpSpPr>
        <p:sp>
          <p:nvSpPr>
            <p:cNvPr name="Freeform 6" id="6"/>
            <p:cNvSpPr/>
            <p:nvPr/>
          </p:nvSpPr>
          <p:spPr>
            <a:xfrm flipH="false" flipV="false" rot="0">
              <a:off x="0" y="0"/>
              <a:ext cx="1690679" cy="663455"/>
            </a:xfrm>
            <a:custGeom>
              <a:avLst/>
              <a:gdLst/>
              <a:ahLst/>
              <a:cxnLst/>
              <a:rect r="r" b="b" t="t" l="l"/>
              <a:pathLst>
                <a:path h="663455" w="1690679">
                  <a:moveTo>
                    <a:pt x="1566219" y="663455"/>
                  </a:moveTo>
                  <a:lnTo>
                    <a:pt x="124460" y="663455"/>
                  </a:lnTo>
                  <a:cubicBezTo>
                    <a:pt x="55880" y="663455"/>
                    <a:pt x="0" y="607575"/>
                    <a:pt x="0" y="538995"/>
                  </a:cubicBezTo>
                  <a:lnTo>
                    <a:pt x="0" y="124460"/>
                  </a:lnTo>
                  <a:cubicBezTo>
                    <a:pt x="0" y="55880"/>
                    <a:pt x="55880" y="0"/>
                    <a:pt x="124460" y="0"/>
                  </a:cubicBezTo>
                  <a:lnTo>
                    <a:pt x="1566219" y="0"/>
                  </a:lnTo>
                  <a:cubicBezTo>
                    <a:pt x="1634799" y="0"/>
                    <a:pt x="1690679" y="55880"/>
                    <a:pt x="1690679" y="124460"/>
                  </a:cubicBezTo>
                  <a:lnTo>
                    <a:pt x="1690679" y="538995"/>
                  </a:lnTo>
                  <a:cubicBezTo>
                    <a:pt x="1690679" y="607575"/>
                    <a:pt x="1634799" y="663455"/>
                    <a:pt x="1566219" y="663455"/>
                  </a:cubicBezTo>
                  <a:close/>
                </a:path>
              </a:pathLst>
            </a:custGeom>
            <a:solidFill>
              <a:srgbClr val="2E4494"/>
            </a:solidFill>
          </p:spPr>
        </p:sp>
      </p:grpSp>
      <p:sp>
        <p:nvSpPr>
          <p:cNvPr name="Freeform 7" id="7"/>
          <p:cNvSpPr/>
          <p:nvPr/>
        </p:nvSpPr>
        <p:spPr>
          <a:xfrm flipH="false" flipV="false" rot="-10800000">
            <a:off x="11040287" y="7006683"/>
            <a:ext cx="2584413" cy="2584413"/>
          </a:xfrm>
          <a:custGeom>
            <a:avLst/>
            <a:gdLst/>
            <a:ahLst/>
            <a:cxnLst/>
            <a:rect r="r" b="b" t="t" l="l"/>
            <a:pathLst>
              <a:path h="2584413" w="2584413">
                <a:moveTo>
                  <a:pt x="0" y="0"/>
                </a:moveTo>
                <a:lnTo>
                  <a:pt x="2584413" y="0"/>
                </a:lnTo>
                <a:lnTo>
                  <a:pt x="2584413" y="2584413"/>
                </a:lnTo>
                <a:lnTo>
                  <a:pt x="0" y="25844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481929" y="1436197"/>
            <a:ext cx="7662071" cy="6740748"/>
            <a:chOff x="0" y="0"/>
            <a:chExt cx="10216095" cy="8987665"/>
          </a:xfrm>
        </p:grpSpPr>
        <p:sp>
          <p:nvSpPr>
            <p:cNvPr name="TextBox 9" id="9"/>
            <p:cNvSpPr txBox="true"/>
            <p:nvPr/>
          </p:nvSpPr>
          <p:spPr>
            <a:xfrm rot="0">
              <a:off x="0" y="-47625"/>
              <a:ext cx="10216095" cy="961736"/>
            </a:xfrm>
            <a:prstGeom prst="rect">
              <a:avLst/>
            </a:prstGeom>
          </p:spPr>
          <p:txBody>
            <a:bodyPr anchor="t" rtlCol="false" tIns="0" lIns="0" bIns="0" rIns="0">
              <a:spAutoFit/>
            </a:bodyPr>
            <a:lstStyle/>
            <a:p>
              <a:pPr algn="l">
                <a:lnSpc>
                  <a:spcPts val="5850"/>
                </a:lnSpc>
              </a:pPr>
              <a:r>
                <a:rPr lang="en-US" sz="4500">
                  <a:solidFill>
                    <a:srgbClr val="FFFFFF"/>
                  </a:solidFill>
                  <a:latin typeface="League Spartan"/>
                  <a:ea typeface="League Spartan"/>
                  <a:cs typeface="League Spartan"/>
                  <a:sym typeface="League Spartan"/>
                </a:rPr>
                <a:t>What is DLLM?</a:t>
              </a:r>
            </a:p>
          </p:txBody>
        </p:sp>
        <p:sp>
          <p:nvSpPr>
            <p:cNvPr name="TextBox 10" id="10"/>
            <p:cNvSpPr txBox="true"/>
            <p:nvPr/>
          </p:nvSpPr>
          <p:spPr>
            <a:xfrm rot="0">
              <a:off x="0" y="1002524"/>
              <a:ext cx="10216095" cy="2603923"/>
            </a:xfrm>
            <a:prstGeom prst="rect">
              <a:avLst/>
            </a:prstGeom>
          </p:spPr>
          <p:txBody>
            <a:bodyPr anchor="t" rtlCol="false" tIns="0" lIns="0" bIns="0" rIns="0">
              <a:spAutoFit/>
            </a:bodyPr>
            <a:lstStyle/>
            <a:p>
              <a:pPr algn="l">
                <a:lnSpc>
                  <a:spcPts val="3919"/>
                </a:lnSpc>
              </a:pPr>
              <a:r>
                <a:rPr lang="en-US" sz="2799">
                  <a:solidFill>
                    <a:srgbClr val="FFFFFF"/>
                  </a:solidFill>
                  <a:latin typeface="Nunito"/>
                  <a:ea typeface="Nunito"/>
                  <a:cs typeface="Nunito"/>
                  <a:sym typeface="Nunito"/>
                </a:rPr>
                <a:t>A smart, integrated system that uses IoT sensors, machine learning, and a mobile web app to notify users of machine availability and cycle completion.</a:t>
              </a:r>
            </a:p>
          </p:txBody>
        </p:sp>
        <p:sp>
          <p:nvSpPr>
            <p:cNvPr name="TextBox 11" id="11"/>
            <p:cNvSpPr txBox="true"/>
            <p:nvPr/>
          </p:nvSpPr>
          <p:spPr>
            <a:xfrm rot="0">
              <a:off x="0" y="4673192"/>
              <a:ext cx="10216095" cy="961736"/>
            </a:xfrm>
            <a:prstGeom prst="rect">
              <a:avLst/>
            </a:prstGeom>
          </p:spPr>
          <p:txBody>
            <a:bodyPr anchor="t" rtlCol="false" tIns="0" lIns="0" bIns="0" rIns="0">
              <a:spAutoFit/>
            </a:bodyPr>
            <a:lstStyle/>
            <a:p>
              <a:pPr algn="l">
                <a:lnSpc>
                  <a:spcPts val="5849"/>
                </a:lnSpc>
              </a:pPr>
              <a:r>
                <a:rPr lang="en-US" sz="4499">
                  <a:solidFill>
                    <a:srgbClr val="FFFFFF"/>
                  </a:solidFill>
                  <a:latin typeface="League Spartan"/>
                  <a:ea typeface="League Spartan"/>
                  <a:cs typeface="League Spartan"/>
                  <a:sym typeface="League Spartan"/>
                </a:rPr>
                <a:t>Key</a:t>
              </a:r>
              <a:r>
                <a:rPr lang="en-US" sz="4499">
                  <a:solidFill>
                    <a:srgbClr val="FFFFFF"/>
                  </a:solidFill>
                  <a:latin typeface="League Spartan"/>
                  <a:ea typeface="League Spartan"/>
                  <a:cs typeface="League Spartan"/>
                  <a:sym typeface="League Spartan"/>
                </a:rPr>
                <a:t> Benefits</a:t>
              </a:r>
            </a:p>
          </p:txBody>
        </p:sp>
        <p:sp>
          <p:nvSpPr>
            <p:cNvPr name="TextBox 12" id="12"/>
            <p:cNvSpPr txBox="true"/>
            <p:nvPr/>
          </p:nvSpPr>
          <p:spPr>
            <a:xfrm rot="0">
              <a:off x="0" y="5723341"/>
              <a:ext cx="10216095" cy="3264323"/>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FFFFFF"/>
                  </a:solidFill>
                  <a:latin typeface="Nunito"/>
                  <a:ea typeface="Nunito"/>
                  <a:cs typeface="Nunito"/>
                  <a:sym typeface="Nunito"/>
                </a:rPr>
                <a:t>Real-time monitoring!</a:t>
              </a:r>
            </a:p>
            <a:p>
              <a:pPr algn="l" marL="604519" indent="-302260" lvl="1">
                <a:lnSpc>
                  <a:spcPts val="3919"/>
                </a:lnSpc>
                <a:buFont typeface="Arial"/>
                <a:buChar char="•"/>
              </a:pPr>
              <a:r>
                <a:rPr lang="en-US" sz="2799">
                  <a:solidFill>
                    <a:srgbClr val="FFFFFF"/>
                  </a:solidFill>
                  <a:latin typeface="Nunito"/>
                  <a:ea typeface="Nunito"/>
                  <a:cs typeface="Nunito"/>
                  <a:sym typeface="Nunito"/>
                </a:rPr>
                <a:t>N</a:t>
              </a:r>
              <a:r>
                <a:rPr lang="en-US" sz="2799">
                  <a:solidFill>
                    <a:srgbClr val="FFFFFF"/>
                  </a:solidFill>
                  <a:latin typeface="Nunito"/>
                  <a:ea typeface="Nunito"/>
                  <a:cs typeface="Nunito"/>
                  <a:sym typeface="Nunito"/>
                </a:rPr>
                <a:t>otifications to remind people to collect their laundry and prevent congestion!</a:t>
              </a:r>
            </a:p>
            <a:p>
              <a:pPr algn="l" marL="604519" indent="-302260" lvl="1">
                <a:lnSpc>
                  <a:spcPts val="3919"/>
                </a:lnSpc>
                <a:buFont typeface="Arial"/>
                <a:buChar char="•"/>
              </a:pPr>
              <a:r>
                <a:rPr lang="en-US" sz="2799">
                  <a:solidFill>
                    <a:srgbClr val="FFFFFF"/>
                  </a:solidFill>
                  <a:latin typeface="Nunito"/>
                  <a:ea typeface="Nunito"/>
                  <a:cs typeface="Nunito"/>
                  <a:sym typeface="Nunito"/>
                </a:rPr>
                <a:t>Enhanced convenience for residents!</a:t>
              </a:r>
            </a:p>
            <a:p>
              <a:pPr algn="l">
                <a:lnSpc>
                  <a:spcPts val="3919"/>
                </a:lnSpc>
              </a:pPr>
            </a:p>
          </p:txBody>
        </p:sp>
      </p:grpSp>
      <p:grpSp>
        <p:nvGrpSpPr>
          <p:cNvPr name="Group 13" id="13"/>
          <p:cNvGrpSpPr/>
          <p:nvPr/>
        </p:nvGrpSpPr>
        <p:grpSpPr>
          <a:xfrm rot="0">
            <a:off x="15976817" y="7006683"/>
            <a:ext cx="1282483" cy="1282483"/>
            <a:chOff x="0" y="0"/>
            <a:chExt cx="1913890" cy="1913890"/>
          </a:xfrm>
        </p:grpSpPr>
        <p:sp>
          <p:nvSpPr>
            <p:cNvPr name="Freeform 14" id="14"/>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2E4494"/>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CBC9E"/>
        </a:solidFill>
      </p:bgPr>
    </p:bg>
    <p:spTree>
      <p:nvGrpSpPr>
        <p:cNvPr id="1" name=""/>
        <p:cNvGrpSpPr/>
        <p:nvPr/>
      </p:nvGrpSpPr>
      <p:grpSpPr>
        <a:xfrm>
          <a:off x="0" y="0"/>
          <a:ext cx="0" cy="0"/>
          <a:chOff x="0" y="0"/>
          <a:chExt cx="0" cy="0"/>
        </a:xfrm>
      </p:grpSpPr>
      <p:grpSp>
        <p:nvGrpSpPr>
          <p:cNvPr name="Group 2" id="2"/>
          <p:cNvGrpSpPr/>
          <p:nvPr/>
        </p:nvGrpSpPr>
        <p:grpSpPr>
          <a:xfrm rot="0">
            <a:off x="11434865" y="1028700"/>
            <a:ext cx="5824435" cy="6800886"/>
            <a:chOff x="0" y="0"/>
            <a:chExt cx="1590619" cy="1857282"/>
          </a:xfrm>
        </p:grpSpPr>
        <p:sp>
          <p:nvSpPr>
            <p:cNvPr name="Freeform 3" id="3"/>
            <p:cNvSpPr/>
            <p:nvPr/>
          </p:nvSpPr>
          <p:spPr>
            <a:xfrm flipH="false" flipV="false" rot="0">
              <a:off x="0" y="0"/>
              <a:ext cx="1590619" cy="1857282"/>
            </a:xfrm>
            <a:custGeom>
              <a:avLst/>
              <a:gdLst/>
              <a:ahLst/>
              <a:cxnLst/>
              <a:rect r="r" b="b" t="t" l="l"/>
              <a:pathLst>
                <a:path h="1857282" w="1590619">
                  <a:moveTo>
                    <a:pt x="1466159" y="1857282"/>
                  </a:moveTo>
                  <a:lnTo>
                    <a:pt x="124460" y="1857282"/>
                  </a:lnTo>
                  <a:cubicBezTo>
                    <a:pt x="55880" y="1857282"/>
                    <a:pt x="0" y="1801402"/>
                    <a:pt x="0" y="1732822"/>
                  </a:cubicBezTo>
                  <a:lnTo>
                    <a:pt x="0" y="124460"/>
                  </a:lnTo>
                  <a:cubicBezTo>
                    <a:pt x="0" y="55880"/>
                    <a:pt x="55880" y="0"/>
                    <a:pt x="124460" y="0"/>
                  </a:cubicBezTo>
                  <a:lnTo>
                    <a:pt x="1466159" y="0"/>
                  </a:lnTo>
                  <a:cubicBezTo>
                    <a:pt x="1534739" y="0"/>
                    <a:pt x="1590619" y="55880"/>
                    <a:pt x="1590619" y="124460"/>
                  </a:cubicBezTo>
                  <a:lnTo>
                    <a:pt x="1590619" y="1732822"/>
                  </a:lnTo>
                  <a:cubicBezTo>
                    <a:pt x="1590619" y="1801402"/>
                    <a:pt x="1534739" y="1857282"/>
                    <a:pt x="1466159" y="1857282"/>
                  </a:cubicBezTo>
                  <a:close/>
                </a:path>
              </a:pathLst>
            </a:custGeom>
            <a:solidFill>
              <a:srgbClr val="FFFFFF"/>
            </a:solidFill>
          </p:spPr>
        </p:sp>
      </p:grpSp>
      <p:grpSp>
        <p:nvGrpSpPr>
          <p:cNvPr name="Group 4" id="4"/>
          <p:cNvGrpSpPr/>
          <p:nvPr/>
        </p:nvGrpSpPr>
        <p:grpSpPr>
          <a:xfrm rot="0">
            <a:off x="11068471" y="7006683"/>
            <a:ext cx="6190829" cy="2429401"/>
            <a:chOff x="0" y="0"/>
            <a:chExt cx="1690679" cy="663455"/>
          </a:xfrm>
        </p:grpSpPr>
        <p:sp>
          <p:nvSpPr>
            <p:cNvPr name="Freeform 5" id="5"/>
            <p:cNvSpPr/>
            <p:nvPr/>
          </p:nvSpPr>
          <p:spPr>
            <a:xfrm flipH="false" flipV="false" rot="0">
              <a:off x="0" y="0"/>
              <a:ext cx="1690679" cy="663455"/>
            </a:xfrm>
            <a:custGeom>
              <a:avLst/>
              <a:gdLst/>
              <a:ahLst/>
              <a:cxnLst/>
              <a:rect r="r" b="b" t="t" l="l"/>
              <a:pathLst>
                <a:path h="663455" w="1690679">
                  <a:moveTo>
                    <a:pt x="1566219" y="663455"/>
                  </a:moveTo>
                  <a:lnTo>
                    <a:pt x="124460" y="663455"/>
                  </a:lnTo>
                  <a:cubicBezTo>
                    <a:pt x="55880" y="663455"/>
                    <a:pt x="0" y="607575"/>
                    <a:pt x="0" y="538995"/>
                  </a:cubicBezTo>
                  <a:lnTo>
                    <a:pt x="0" y="124460"/>
                  </a:lnTo>
                  <a:cubicBezTo>
                    <a:pt x="0" y="55880"/>
                    <a:pt x="55880" y="0"/>
                    <a:pt x="124460" y="0"/>
                  </a:cubicBezTo>
                  <a:lnTo>
                    <a:pt x="1566219" y="0"/>
                  </a:lnTo>
                  <a:cubicBezTo>
                    <a:pt x="1634799" y="0"/>
                    <a:pt x="1690679" y="55880"/>
                    <a:pt x="1690679" y="124460"/>
                  </a:cubicBezTo>
                  <a:lnTo>
                    <a:pt x="1690679" y="538995"/>
                  </a:lnTo>
                  <a:cubicBezTo>
                    <a:pt x="1690679" y="607575"/>
                    <a:pt x="1634799" y="663455"/>
                    <a:pt x="1566219" y="663455"/>
                  </a:cubicBezTo>
                  <a:close/>
                </a:path>
              </a:pathLst>
            </a:custGeom>
            <a:solidFill>
              <a:srgbClr val="196E63"/>
            </a:solidFill>
          </p:spPr>
        </p:sp>
      </p:grpSp>
      <p:sp>
        <p:nvSpPr>
          <p:cNvPr name="Freeform 6" id="6"/>
          <p:cNvSpPr/>
          <p:nvPr/>
        </p:nvSpPr>
        <p:spPr>
          <a:xfrm flipH="false" flipV="false" rot="-10800000">
            <a:off x="11040287" y="7006683"/>
            <a:ext cx="2584413" cy="2584413"/>
          </a:xfrm>
          <a:custGeom>
            <a:avLst/>
            <a:gdLst/>
            <a:ahLst/>
            <a:cxnLst/>
            <a:rect r="r" b="b" t="t" l="l"/>
            <a:pathLst>
              <a:path h="2584413" w="2584413">
                <a:moveTo>
                  <a:pt x="0" y="0"/>
                </a:moveTo>
                <a:lnTo>
                  <a:pt x="2584413" y="0"/>
                </a:lnTo>
                <a:lnTo>
                  <a:pt x="2584413" y="2584413"/>
                </a:lnTo>
                <a:lnTo>
                  <a:pt x="0" y="25844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5976817" y="7006683"/>
            <a:ext cx="1282483" cy="1282483"/>
            <a:chOff x="0" y="0"/>
            <a:chExt cx="1913890" cy="1913890"/>
          </a:xfrm>
        </p:grpSpPr>
        <p:sp>
          <p:nvSpPr>
            <p:cNvPr name="Freeform 8" id="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196E63"/>
            </a:solidFill>
          </p:spPr>
        </p:sp>
      </p:grpSp>
      <p:grpSp>
        <p:nvGrpSpPr>
          <p:cNvPr name="Group 9" id="9"/>
          <p:cNvGrpSpPr/>
          <p:nvPr/>
        </p:nvGrpSpPr>
        <p:grpSpPr>
          <a:xfrm rot="0">
            <a:off x="3993696" y="435036"/>
            <a:ext cx="3918868" cy="2537699"/>
            <a:chOff x="0" y="0"/>
            <a:chExt cx="5225158" cy="3383599"/>
          </a:xfrm>
        </p:grpSpPr>
        <p:grpSp>
          <p:nvGrpSpPr>
            <p:cNvPr name="Group 10" id="10"/>
            <p:cNvGrpSpPr/>
            <p:nvPr/>
          </p:nvGrpSpPr>
          <p:grpSpPr>
            <a:xfrm rot="0">
              <a:off x="0" y="0"/>
              <a:ext cx="5225158" cy="3383599"/>
              <a:chOff x="0" y="0"/>
              <a:chExt cx="2463123" cy="1595018"/>
            </a:xfrm>
          </p:grpSpPr>
          <p:sp>
            <p:nvSpPr>
              <p:cNvPr name="Freeform 11" id="11"/>
              <p:cNvSpPr/>
              <p:nvPr/>
            </p:nvSpPr>
            <p:spPr>
              <a:xfrm flipH="false" flipV="false" rot="0">
                <a:off x="0" y="0"/>
                <a:ext cx="2463123" cy="1595018"/>
              </a:xfrm>
              <a:custGeom>
                <a:avLst/>
                <a:gdLst/>
                <a:ahLst/>
                <a:cxnLst/>
                <a:rect r="r" b="b" t="t" l="l"/>
                <a:pathLst>
                  <a:path h="1595018" w="2463123">
                    <a:moveTo>
                      <a:pt x="2338663" y="1595018"/>
                    </a:moveTo>
                    <a:lnTo>
                      <a:pt x="124460" y="1595018"/>
                    </a:lnTo>
                    <a:cubicBezTo>
                      <a:pt x="55880" y="1595018"/>
                      <a:pt x="0" y="1539138"/>
                      <a:pt x="0" y="1470558"/>
                    </a:cubicBezTo>
                    <a:lnTo>
                      <a:pt x="0" y="124460"/>
                    </a:lnTo>
                    <a:cubicBezTo>
                      <a:pt x="0" y="55880"/>
                      <a:pt x="55880" y="0"/>
                      <a:pt x="124460" y="0"/>
                    </a:cubicBezTo>
                    <a:lnTo>
                      <a:pt x="2338663" y="0"/>
                    </a:lnTo>
                    <a:cubicBezTo>
                      <a:pt x="2407243" y="0"/>
                      <a:pt x="2463123" y="55880"/>
                      <a:pt x="2463123" y="124460"/>
                    </a:cubicBezTo>
                    <a:lnTo>
                      <a:pt x="2463123" y="1470558"/>
                    </a:lnTo>
                    <a:cubicBezTo>
                      <a:pt x="2463123" y="1539138"/>
                      <a:pt x="2407243" y="1595018"/>
                      <a:pt x="2338663" y="1595018"/>
                    </a:cubicBezTo>
                    <a:close/>
                  </a:path>
                </a:pathLst>
              </a:custGeom>
              <a:solidFill>
                <a:srgbClr val="FFFFFF"/>
              </a:solidFill>
            </p:spPr>
          </p:sp>
        </p:grpSp>
        <p:sp>
          <p:nvSpPr>
            <p:cNvPr name="TextBox 12" id="12"/>
            <p:cNvSpPr txBox="true"/>
            <p:nvPr/>
          </p:nvSpPr>
          <p:spPr>
            <a:xfrm rot="0">
              <a:off x="1186147" y="1043667"/>
              <a:ext cx="2852864" cy="1321485"/>
            </a:xfrm>
            <a:prstGeom prst="rect">
              <a:avLst/>
            </a:prstGeom>
          </p:spPr>
          <p:txBody>
            <a:bodyPr anchor="t" rtlCol="false" tIns="0" lIns="0" bIns="0" rIns="0">
              <a:spAutoFit/>
            </a:bodyPr>
            <a:lstStyle/>
            <a:p>
              <a:pPr algn="l">
                <a:lnSpc>
                  <a:spcPts val="3974"/>
                </a:lnSpc>
              </a:pPr>
              <a:r>
                <a:rPr lang="en-US" sz="3455">
                  <a:solidFill>
                    <a:srgbClr val="196E63"/>
                  </a:solidFill>
                  <a:latin typeface="League Spartan"/>
                  <a:ea typeface="League Spartan"/>
                  <a:cs typeface="League Spartan"/>
                  <a:sym typeface="League Spartan"/>
                </a:rPr>
                <a:t>Sensors/ Cameras</a:t>
              </a:r>
            </a:p>
          </p:txBody>
        </p:sp>
      </p:grpSp>
      <p:grpSp>
        <p:nvGrpSpPr>
          <p:cNvPr name="Group 13" id="13"/>
          <p:cNvGrpSpPr/>
          <p:nvPr/>
        </p:nvGrpSpPr>
        <p:grpSpPr>
          <a:xfrm rot="0">
            <a:off x="7305635" y="4444325"/>
            <a:ext cx="3918868" cy="1706339"/>
            <a:chOff x="0" y="0"/>
            <a:chExt cx="5225158" cy="2275118"/>
          </a:xfrm>
        </p:grpSpPr>
        <p:grpSp>
          <p:nvGrpSpPr>
            <p:cNvPr name="Group 14" id="14"/>
            <p:cNvGrpSpPr/>
            <p:nvPr/>
          </p:nvGrpSpPr>
          <p:grpSpPr>
            <a:xfrm rot="0">
              <a:off x="0" y="0"/>
              <a:ext cx="5225158" cy="2275118"/>
              <a:chOff x="0" y="0"/>
              <a:chExt cx="2463123" cy="1072483"/>
            </a:xfrm>
          </p:grpSpPr>
          <p:sp>
            <p:nvSpPr>
              <p:cNvPr name="Freeform 15" id="15"/>
              <p:cNvSpPr/>
              <p:nvPr/>
            </p:nvSpPr>
            <p:spPr>
              <a:xfrm flipH="false" flipV="false" rot="0">
                <a:off x="0" y="0"/>
                <a:ext cx="2463123" cy="1072484"/>
              </a:xfrm>
              <a:custGeom>
                <a:avLst/>
                <a:gdLst/>
                <a:ahLst/>
                <a:cxnLst/>
                <a:rect r="r" b="b" t="t" l="l"/>
                <a:pathLst>
                  <a:path h="1072484" w="2463123">
                    <a:moveTo>
                      <a:pt x="2338663" y="1072483"/>
                    </a:moveTo>
                    <a:lnTo>
                      <a:pt x="124460" y="1072483"/>
                    </a:lnTo>
                    <a:cubicBezTo>
                      <a:pt x="55880" y="1072483"/>
                      <a:pt x="0" y="1016603"/>
                      <a:pt x="0" y="948023"/>
                    </a:cubicBezTo>
                    <a:lnTo>
                      <a:pt x="0" y="124460"/>
                    </a:lnTo>
                    <a:cubicBezTo>
                      <a:pt x="0" y="55880"/>
                      <a:pt x="55880" y="0"/>
                      <a:pt x="124460" y="0"/>
                    </a:cubicBezTo>
                    <a:lnTo>
                      <a:pt x="2338663" y="0"/>
                    </a:lnTo>
                    <a:cubicBezTo>
                      <a:pt x="2407243" y="0"/>
                      <a:pt x="2463123" y="55880"/>
                      <a:pt x="2463123" y="124460"/>
                    </a:cubicBezTo>
                    <a:lnTo>
                      <a:pt x="2463123" y="948024"/>
                    </a:lnTo>
                    <a:cubicBezTo>
                      <a:pt x="2463123" y="1016603"/>
                      <a:pt x="2407243" y="1072484"/>
                      <a:pt x="2338663" y="1072484"/>
                    </a:cubicBezTo>
                    <a:close/>
                  </a:path>
                </a:pathLst>
              </a:custGeom>
              <a:solidFill>
                <a:srgbClr val="FFFFFF"/>
              </a:solidFill>
            </p:spPr>
          </p:sp>
        </p:grpSp>
        <p:sp>
          <p:nvSpPr>
            <p:cNvPr name="TextBox 16" id="16"/>
            <p:cNvSpPr txBox="true"/>
            <p:nvPr/>
          </p:nvSpPr>
          <p:spPr>
            <a:xfrm rot="0">
              <a:off x="1104015" y="491104"/>
              <a:ext cx="3017128" cy="1321485"/>
            </a:xfrm>
            <a:prstGeom prst="rect">
              <a:avLst/>
            </a:prstGeom>
          </p:spPr>
          <p:txBody>
            <a:bodyPr anchor="t" rtlCol="false" tIns="0" lIns="0" bIns="0" rIns="0">
              <a:spAutoFit/>
            </a:bodyPr>
            <a:lstStyle/>
            <a:p>
              <a:pPr algn="ctr">
                <a:lnSpc>
                  <a:spcPts val="3974"/>
                </a:lnSpc>
              </a:pPr>
              <a:r>
                <a:rPr lang="en-US" sz="3455">
                  <a:solidFill>
                    <a:srgbClr val="196E63"/>
                  </a:solidFill>
                  <a:latin typeface="League Spartan"/>
                  <a:ea typeface="League Spartan"/>
                  <a:cs typeface="League Spartan"/>
                  <a:sym typeface="League Spartan"/>
                </a:rPr>
                <a:t>Laundry Machines</a:t>
              </a:r>
            </a:p>
          </p:txBody>
        </p:sp>
      </p:grpSp>
      <p:grpSp>
        <p:nvGrpSpPr>
          <p:cNvPr name="Group 17" id="17"/>
          <p:cNvGrpSpPr/>
          <p:nvPr/>
        </p:nvGrpSpPr>
        <p:grpSpPr>
          <a:xfrm rot="0">
            <a:off x="369594" y="4444325"/>
            <a:ext cx="3918868" cy="1706339"/>
            <a:chOff x="0" y="0"/>
            <a:chExt cx="5225158" cy="2275118"/>
          </a:xfrm>
        </p:grpSpPr>
        <p:grpSp>
          <p:nvGrpSpPr>
            <p:cNvPr name="Group 18" id="18"/>
            <p:cNvGrpSpPr/>
            <p:nvPr/>
          </p:nvGrpSpPr>
          <p:grpSpPr>
            <a:xfrm rot="0">
              <a:off x="0" y="0"/>
              <a:ext cx="5225158" cy="2275118"/>
              <a:chOff x="0" y="0"/>
              <a:chExt cx="2463123" cy="1072483"/>
            </a:xfrm>
          </p:grpSpPr>
          <p:sp>
            <p:nvSpPr>
              <p:cNvPr name="Freeform 19" id="19"/>
              <p:cNvSpPr/>
              <p:nvPr/>
            </p:nvSpPr>
            <p:spPr>
              <a:xfrm flipH="false" flipV="false" rot="0">
                <a:off x="0" y="0"/>
                <a:ext cx="2463123" cy="1072484"/>
              </a:xfrm>
              <a:custGeom>
                <a:avLst/>
                <a:gdLst/>
                <a:ahLst/>
                <a:cxnLst/>
                <a:rect r="r" b="b" t="t" l="l"/>
                <a:pathLst>
                  <a:path h="1072484" w="2463123">
                    <a:moveTo>
                      <a:pt x="2338663" y="1072483"/>
                    </a:moveTo>
                    <a:lnTo>
                      <a:pt x="124460" y="1072483"/>
                    </a:lnTo>
                    <a:cubicBezTo>
                      <a:pt x="55880" y="1072483"/>
                      <a:pt x="0" y="1016603"/>
                      <a:pt x="0" y="948023"/>
                    </a:cubicBezTo>
                    <a:lnTo>
                      <a:pt x="0" y="124460"/>
                    </a:lnTo>
                    <a:cubicBezTo>
                      <a:pt x="0" y="55880"/>
                      <a:pt x="55880" y="0"/>
                      <a:pt x="124460" y="0"/>
                    </a:cubicBezTo>
                    <a:lnTo>
                      <a:pt x="2338663" y="0"/>
                    </a:lnTo>
                    <a:cubicBezTo>
                      <a:pt x="2407243" y="0"/>
                      <a:pt x="2463123" y="55880"/>
                      <a:pt x="2463123" y="124460"/>
                    </a:cubicBezTo>
                    <a:lnTo>
                      <a:pt x="2463123" y="948024"/>
                    </a:lnTo>
                    <a:cubicBezTo>
                      <a:pt x="2463123" y="1016603"/>
                      <a:pt x="2407243" y="1072484"/>
                      <a:pt x="2338663" y="1072484"/>
                    </a:cubicBezTo>
                    <a:close/>
                  </a:path>
                </a:pathLst>
              </a:custGeom>
              <a:solidFill>
                <a:srgbClr val="FFFFFF"/>
              </a:solidFill>
            </p:spPr>
          </p:sp>
        </p:grpSp>
        <p:sp>
          <p:nvSpPr>
            <p:cNvPr name="TextBox 20" id="20"/>
            <p:cNvSpPr txBox="true"/>
            <p:nvPr/>
          </p:nvSpPr>
          <p:spPr>
            <a:xfrm rot="0">
              <a:off x="761798" y="821304"/>
              <a:ext cx="3701561" cy="661085"/>
            </a:xfrm>
            <a:prstGeom prst="rect">
              <a:avLst/>
            </a:prstGeom>
          </p:spPr>
          <p:txBody>
            <a:bodyPr anchor="t" rtlCol="false" tIns="0" lIns="0" bIns="0" rIns="0">
              <a:spAutoFit/>
            </a:bodyPr>
            <a:lstStyle/>
            <a:p>
              <a:pPr algn="ctr">
                <a:lnSpc>
                  <a:spcPts val="3974"/>
                </a:lnSpc>
              </a:pPr>
              <a:r>
                <a:rPr lang="en-US" sz="3455">
                  <a:solidFill>
                    <a:srgbClr val="196E63"/>
                  </a:solidFill>
                  <a:latin typeface="League Spartan"/>
                  <a:ea typeface="League Spartan"/>
                  <a:cs typeface="League Spartan"/>
                  <a:sym typeface="League Spartan"/>
                </a:rPr>
                <a:t>Application</a:t>
              </a:r>
            </a:p>
          </p:txBody>
        </p:sp>
      </p:grpSp>
      <p:sp>
        <p:nvSpPr>
          <p:cNvPr name="Freeform 21" id="21"/>
          <p:cNvSpPr/>
          <p:nvPr/>
        </p:nvSpPr>
        <p:spPr>
          <a:xfrm flipH="false" flipV="false" rot="-5400000">
            <a:off x="7405688" y="1543354"/>
            <a:ext cx="2903683" cy="2586917"/>
          </a:xfrm>
          <a:custGeom>
            <a:avLst/>
            <a:gdLst/>
            <a:ahLst/>
            <a:cxnLst/>
            <a:rect r="r" b="b" t="t" l="l"/>
            <a:pathLst>
              <a:path h="2586917" w="2903683">
                <a:moveTo>
                  <a:pt x="0" y="0"/>
                </a:moveTo>
                <a:lnTo>
                  <a:pt x="2903683" y="0"/>
                </a:lnTo>
                <a:lnTo>
                  <a:pt x="2903683" y="2586918"/>
                </a:lnTo>
                <a:lnTo>
                  <a:pt x="0" y="25869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12002356" y="2037698"/>
            <a:ext cx="4689452" cy="1898650"/>
          </a:xfrm>
          <a:prstGeom prst="rect">
            <a:avLst/>
          </a:prstGeom>
        </p:spPr>
        <p:txBody>
          <a:bodyPr anchor="t" rtlCol="false" tIns="0" lIns="0" bIns="0" rIns="0">
            <a:spAutoFit/>
          </a:bodyPr>
          <a:lstStyle/>
          <a:p>
            <a:pPr algn="l">
              <a:lnSpc>
                <a:spcPts val="7475"/>
              </a:lnSpc>
            </a:pPr>
            <a:r>
              <a:rPr lang="en-US" sz="6500">
                <a:solidFill>
                  <a:srgbClr val="196E63"/>
                </a:solidFill>
                <a:latin typeface="League Spartan"/>
                <a:ea typeface="League Spartan"/>
                <a:cs typeface="League Spartan"/>
                <a:sym typeface="League Spartan"/>
              </a:rPr>
              <a:t>How does it work?</a:t>
            </a:r>
          </a:p>
        </p:txBody>
      </p:sp>
      <p:sp>
        <p:nvSpPr>
          <p:cNvPr name="Freeform 23" id="23"/>
          <p:cNvSpPr/>
          <p:nvPr/>
        </p:nvSpPr>
        <p:spPr>
          <a:xfrm flipH="false" flipV="false" rot="-10711373">
            <a:off x="1262761" y="1740746"/>
            <a:ext cx="2991844" cy="2665461"/>
          </a:xfrm>
          <a:custGeom>
            <a:avLst/>
            <a:gdLst/>
            <a:ahLst/>
            <a:cxnLst/>
            <a:rect r="r" b="b" t="t" l="l"/>
            <a:pathLst>
              <a:path h="2665461" w="2991844">
                <a:moveTo>
                  <a:pt x="0" y="0"/>
                </a:moveTo>
                <a:lnTo>
                  <a:pt x="2991844" y="0"/>
                </a:lnTo>
                <a:lnTo>
                  <a:pt x="2991844" y="2665461"/>
                </a:lnTo>
                <a:lnTo>
                  <a:pt x="0" y="26654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4" id="24"/>
          <p:cNvGrpSpPr/>
          <p:nvPr/>
        </p:nvGrpSpPr>
        <p:grpSpPr>
          <a:xfrm rot="0">
            <a:off x="4031796" y="7825446"/>
            <a:ext cx="3918868" cy="1211039"/>
            <a:chOff x="0" y="0"/>
            <a:chExt cx="5225158" cy="1614718"/>
          </a:xfrm>
        </p:grpSpPr>
        <p:grpSp>
          <p:nvGrpSpPr>
            <p:cNvPr name="Group 25" id="25"/>
            <p:cNvGrpSpPr/>
            <p:nvPr/>
          </p:nvGrpSpPr>
          <p:grpSpPr>
            <a:xfrm rot="0">
              <a:off x="0" y="0"/>
              <a:ext cx="5225158" cy="1614718"/>
              <a:chOff x="0" y="0"/>
              <a:chExt cx="2463123" cy="761173"/>
            </a:xfrm>
          </p:grpSpPr>
          <p:sp>
            <p:nvSpPr>
              <p:cNvPr name="Freeform 26" id="26"/>
              <p:cNvSpPr/>
              <p:nvPr/>
            </p:nvSpPr>
            <p:spPr>
              <a:xfrm flipH="false" flipV="false" rot="0">
                <a:off x="0" y="0"/>
                <a:ext cx="2463123" cy="761173"/>
              </a:xfrm>
              <a:custGeom>
                <a:avLst/>
                <a:gdLst/>
                <a:ahLst/>
                <a:cxnLst/>
                <a:rect r="r" b="b" t="t" l="l"/>
                <a:pathLst>
                  <a:path h="761173" w="2463123">
                    <a:moveTo>
                      <a:pt x="2338663" y="761173"/>
                    </a:moveTo>
                    <a:lnTo>
                      <a:pt x="124460" y="761173"/>
                    </a:lnTo>
                    <a:cubicBezTo>
                      <a:pt x="55880" y="761173"/>
                      <a:pt x="0" y="705293"/>
                      <a:pt x="0" y="636713"/>
                    </a:cubicBezTo>
                    <a:lnTo>
                      <a:pt x="0" y="124460"/>
                    </a:lnTo>
                    <a:cubicBezTo>
                      <a:pt x="0" y="55880"/>
                      <a:pt x="55880" y="0"/>
                      <a:pt x="124460" y="0"/>
                    </a:cubicBezTo>
                    <a:lnTo>
                      <a:pt x="2338663" y="0"/>
                    </a:lnTo>
                    <a:cubicBezTo>
                      <a:pt x="2407243" y="0"/>
                      <a:pt x="2463123" y="55880"/>
                      <a:pt x="2463123" y="124460"/>
                    </a:cubicBezTo>
                    <a:lnTo>
                      <a:pt x="2463123" y="636713"/>
                    </a:lnTo>
                    <a:cubicBezTo>
                      <a:pt x="2463123" y="705293"/>
                      <a:pt x="2407243" y="761173"/>
                      <a:pt x="2338663" y="761173"/>
                    </a:cubicBezTo>
                    <a:close/>
                  </a:path>
                </a:pathLst>
              </a:custGeom>
              <a:solidFill>
                <a:srgbClr val="FFFFFF"/>
              </a:solidFill>
            </p:spPr>
          </p:sp>
        </p:grpSp>
        <p:sp>
          <p:nvSpPr>
            <p:cNvPr name="TextBox 27" id="27"/>
            <p:cNvSpPr txBox="true"/>
            <p:nvPr/>
          </p:nvSpPr>
          <p:spPr>
            <a:xfrm rot="0">
              <a:off x="1104015" y="491104"/>
              <a:ext cx="3017128" cy="661085"/>
            </a:xfrm>
            <a:prstGeom prst="rect">
              <a:avLst/>
            </a:prstGeom>
          </p:spPr>
          <p:txBody>
            <a:bodyPr anchor="t" rtlCol="false" tIns="0" lIns="0" bIns="0" rIns="0">
              <a:spAutoFit/>
            </a:bodyPr>
            <a:lstStyle/>
            <a:p>
              <a:pPr algn="ctr">
                <a:lnSpc>
                  <a:spcPts val="3974"/>
                </a:lnSpc>
              </a:pPr>
              <a:r>
                <a:rPr lang="en-US" sz="3455">
                  <a:solidFill>
                    <a:srgbClr val="196E63"/>
                  </a:solidFill>
                  <a:latin typeface="League Spartan"/>
                  <a:ea typeface="League Spartan"/>
                  <a:cs typeface="League Spartan"/>
                  <a:sym typeface="League Spartan"/>
                </a:rPr>
                <a:t>User</a:t>
              </a:r>
            </a:p>
          </p:txBody>
        </p:sp>
      </p:grpSp>
      <p:sp>
        <p:nvSpPr>
          <p:cNvPr name="Freeform 28" id="28"/>
          <p:cNvSpPr/>
          <p:nvPr/>
        </p:nvSpPr>
        <p:spPr>
          <a:xfrm flipH="false" flipV="false" rot="5400000">
            <a:off x="1279241" y="6172303"/>
            <a:ext cx="2689718" cy="2396294"/>
          </a:xfrm>
          <a:custGeom>
            <a:avLst/>
            <a:gdLst/>
            <a:ahLst/>
            <a:cxnLst/>
            <a:rect r="r" b="b" t="t" l="l"/>
            <a:pathLst>
              <a:path h="2396294" w="2689718">
                <a:moveTo>
                  <a:pt x="0" y="0"/>
                </a:moveTo>
                <a:lnTo>
                  <a:pt x="2689717" y="0"/>
                </a:lnTo>
                <a:lnTo>
                  <a:pt x="2689717" y="2396294"/>
                </a:lnTo>
                <a:lnTo>
                  <a:pt x="0" y="23962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72244">
            <a:off x="7436390" y="6178660"/>
            <a:ext cx="2689718" cy="2396294"/>
          </a:xfrm>
          <a:custGeom>
            <a:avLst/>
            <a:gdLst/>
            <a:ahLst/>
            <a:cxnLst/>
            <a:rect r="r" b="b" t="t" l="l"/>
            <a:pathLst>
              <a:path h="2396294" w="2689718">
                <a:moveTo>
                  <a:pt x="0" y="0"/>
                </a:moveTo>
                <a:lnTo>
                  <a:pt x="2689718" y="0"/>
                </a:lnTo>
                <a:lnTo>
                  <a:pt x="2689718" y="2396294"/>
                </a:lnTo>
                <a:lnTo>
                  <a:pt x="0" y="23962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CBC9E"/>
        </a:solidFill>
      </p:bgPr>
    </p:bg>
    <p:spTree>
      <p:nvGrpSpPr>
        <p:cNvPr id="1" name=""/>
        <p:cNvGrpSpPr/>
        <p:nvPr/>
      </p:nvGrpSpPr>
      <p:grpSpPr>
        <a:xfrm>
          <a:off x="0" y="0"/>
          <a:ext cx="0" cy="0"/>
          <a:chOff x="0" y="0"/>
          <a:chExt cx="0" cy="0"/>
        </a:xfrm>
      </p:grpSpPr>
      <p:grpSp>
        <p:nvGrpSpPr>
          <p:cNvPr name="Group 2" id="2"/>
          <p:cNvGrpSpPr/>
          <p:nvPr/>
        </p:nvGrpSpPr>
        <p:grpSpPr>
          <a:xfrm rot="0">
            <a:off x="12228219" y="1973218"/>
            <a:ext cx="5256944" cy="6800886"/>
            <a:chOff x="0" y="0"/>
            <a:chExt cx="1435640" cy="1857282"/>
          </a:xfrm>
        </p:grpSpPr>
        <p:sp>
          <p:nvSpPr>
            <p:cNvPr name="Freeform 3" id="3"/>
            <p:cNvSpPr/>
            <p:nvPr/>
          </p:nvSpPr>
          <p:spPr>
            <a:xfrm flipH="false" flipV="false" rot="0">
              <a:off x="0" y="0"/>
              <a:ext cx="1435641" cy="1857282"/>
            </a:xfrm>
            <a:custGeom>
              <a:avLst/>
              <a:gdLst/>
              <a:ahLst/>
              <a:cxnLst/>
              <a:rect r="r" b="b" t="t" l="l"/>
              <a:pathLst>
                <a:path h="1857282" w="1435641">
                  <a:moveTo>
                    <a:pt x="1311180" y="1857282"/>
                  </a:moveTo>
                  <a:lnTo>
                    <a:pt x="124460" y="1857282"/>
                  </a:lnTo>
                  <a:cubicBezTo>
                    <a:pt x="55880" y="1857282"/>
                    <a:pt x="0" y="1801402"/>
                    <a:pt x="0" y="1732822"/>
                  </a:cubicBezTo>
                  <a:lnTo>
                    <a:pt x="0" y="124460"/>
                  </a:lnTo>
                  <a:cubicBezTo>
                    <a:pt x="0" y="55880"/>
                    <a:pt x="55880" y="0"/>
                    <a:pt x="124460" y="0"/>
                  </a:cubicBezTo>
                  <a:lnTo>
                    <a:pt x="1311181" y="0"/>
                  </a:lnTo>
                  <a:cubicBezTo>
                    <a:pt x="1379760" y="0"/>
                    <a:pt x="1435641" y="55880"/>
                    <a:pt x="1435641" y="124460"/>
                  </a:cubicBezTo>
                  <a:lnTo>
                    <a:pt x="1435641" y="1732822"/>
                  </a:lnTo>
                  <a:cubicBezTo>
                    <a:pt x="1435641" y="1801402"/>
                    <a:pt x="1379760" y="1857282"/>
                    <a:pt x="1311181" y="1857282"/>
                  </a:cubicBezTo>
                  <a:close/>
                </a:path>
              </a:pathLst>
            </a:custGeom>
            <a:solidFill>
              <a:srgbClr val="FFFFFF"/>
            </a:solidFill>
          </p:spPr>
        </p:sp>
      </p:grpSp>
      <p:grpSp>
        <p:nvGrpSpPr>
          <p:cNvPr name="Group 4" id="4"/>
          <p:cNvGrpSpPr/>
          <p:nvPr/>
        </p:nvGrpSpPr>
        <p:grpSpPr>
          <a:xfrm rot="0">
            <a:off x="12228219" y="6720677"/>
            <a:ext cx="5256944" cy="2053427"/>
            <a:chOff x="0" y="0"/>
            <a:chExt cx="1690679" cy="660400"/>
          </a:xfrm>
        </p:grpSpPr>
        <p:sp>
          <p:nvSpPr>
            <p:cNvPr name="Freeform 5" id="5"/>
            <p:cNvSpPr/>
            <p:nvPr/>
          </p:nvSpPr>
          <p:spPr>
            <a:xfrm flipH="false" flipV="false" rot="0">
              <a:off x="0" y="0"/>
              <a:ext cx="1690679" cy="660400"/>
            </a:xfrm>
            <a:custGeom>
              <a:avLst/>
              <a:gdLst/>
              <a:ahLst/>
              <a:cxnLst/>
              <a:rect r="r" b="b" t="t" l="l"/>
              <a:pathLst>
                <a:path h="660400" w="1690679">
                  <a:moveTo>
                    <a:pt x="1566219" y="660400"/>
                  </a:moveTo>
                  <a:lnTo>
                    <a:pt x="124460" y="660400"/>
                  </a:lnTo>
                  <a:cubicBezTo>
                    <a:pt x="55880" y="660400"/>
                    <a:pt x="0" y="604520"/>
                    <a:pt x="0" y="535940"/>
                  </a:cubicBezTo>
                  <a:lnTo>
                    <a:pt x="0" y="124460"/>
                  </a:lnTo>
                  <a:cubicBezTo>
                    <a:pt x="0" y="55880"/>
                    <a:pt x="55880" y="0"/>
                    <a:pt x="124460" y="0"/>
                  </a:cubicBezTo>
                  <a:lnTo>
                    <a:pt x="1566219" y="0"/>
                  </a:lnTo>
                  <a:cubicBezTo>
                    <a:pt x="1634799" y="0"/>
                    <a:pt x="1690679" y="55880"/>
                    <a:pt x="1690679" y="124460"/>
                  </a:cubicBezTo>
                  <a:lnTo>
                    <a:pt x="1690679" y="535940"/>
                  </a:lnTo>
                  <a:cubicBezTo>
                    <a:pt x="1690679" y="604520"/>
                    <a:pt x="1634799" y="660400"/>
                    <a:pt x="1566219" y="660400"/>
                  </a:cubicBezTo>
                  <a:close/>
                </a:path>
              </a:pathLst>
            </a:custGeom>
            <a:solidFill>
              <a:srgbClr val="196E63"/>
            </a:solidFill>
          </p:spPr>
        </p:sp>
      </p:grpSp>
      <p:sp>
        <p:nvSpPr>
          <p:cNvPr name="Freeform 6" id="6"/>
          <p:cNvSpPr/>
          <p:nvPr/>
        </p:nvSpPr>
        <p:spPr>
          <a:xfrm flipH="false" flipV="false" rot="0">
            <a:off x="556525" y="1839268"/>
            <a:ext cx="10921001" cy="6934836"/>
          </a:xfrm>
          <a:custGeom>
            <a:avLst/>
            <a:gdLst/>
            <a:ahLst/>
            <a:cxnLst/>
            <a:rect r="r" b="b" t="t" l="l"/>
            <a:pathLst>
              <a:path h="6934836" w="10921001">
                <a:moveTo>
                  <a:pt x="0" y="0"/>
                </a:moveTo>
                <a:lnTo>
                  <a:pt x="10921001" y="0"/>
                </a:lnTo>
                <a:lnTo>
                  <a:pt x="10921001" y="6934836"/>
                </a:lnTo>
                <a:lnTo>
                  <a:pt x="0" y="6934836"/>
                </a:lnTo>
                <a:lnTo>
                  <a:pt x="0" y="0"/>
                </a:lnTo>
                <a:close/>
              </a:path>
            </a:pathLst>
          </a:custGeom>
          <a:blipFill>
            <a:blip r:embed="rId2"/>
            <a:stretch>
              <a:fillRect l="0" t="0" r="0" b="0"/>
            </a:stretch>
          </a:blipFill>
        </p:spPr>
      </p:sp>
      <p:sp>
        <p:nvSpPr>
          <p:cNvPr name="TextBox 7" id="7"/>
          <p:cNvSpPr txBox="true"/>
          <p:nvPr/>
        </p:nvSpPr>
        <p:spPr>
          <a:xfrm rot="0">
            <a:off x="12926341" y="2982215"/>
            <a:ext cx="3991331" cy="955675"/>
          </a:xfrm>
          <a:prstGeom prst="rect">
            <a:avLst/>
          </a:prstGeom>
        </p:spPr>
        <p:txBody>
          <a:bodyPr anchor="t" rtlCol="false" tIns="0" lIns="0" bIns="0" rIns="0">
            <a:spAutoFit/>
          </a:bodyPr>
          <a:lstStyle/>
          <a:p>
            <a:pPr algn="l">
              <a:lnSpc>
                <a:spcPts val="7475"/>
              </a:lnSpc>
            </a:pPr>
            <a:r>
              <a:rPr lang="en-US" sz="6500">
                <a:solidFill>
                  <a:srgbClr val="196E63"/>
                </a:solidFill>
                <a:latin typeface="League Spartan"/>
                <a:ea typeface="League Spartan"/>
                <a:cs typeface="League Spartan"/>
                <a:sym typeface="League Spartan"/>
              </a:rPr>
              <a:t>Washer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CBC9E"/>
        </a:solidFill>
      </p:bgPr>
    </p:bg>
    <p:spTree>
      <p:nvGrpSpPr>
        <p:cNvPr id="1" name=""/>
        <p:cNvGrpSpPr/>
        <p:nvPr/>
      </p:nvGrpSpPr>
      <p:grpSpPr>
        <a:xfrm>
          <a:off x="0" y="0"/>
          <a:ext cx="0" cy="0"/>
          <a:chOff x="0" y="0"/>
          <a:chExt cx="0" cy="0"/>
        </a:xfrm>
      </p:grpSpPr>
      <p:grpSp>
        <p:nvGrpSpPr>
          <p:cNvPr name="Group 2" id="2"/>
          <p:cNvGrpSpPr/>
          <p:nvPr/>
        </p:nvGrpSpPr>
        <p:grpSpPr>
          <a:xfrm rot="0">
            <a:off x="12228219" y="1973218"/>
            <a:ext cx="5256944" cy="6800886"/>
            <a:chOff x="0" y="0"/>
            <a:chExt cx="1435640" cy="1857282"/>
          </a:xfrm>
        </p:grpSpPr>
        <p:sp>
          <p:nvSpPr>
            <p:cNvPr name="Freeform 3" id="3"/>
            <p:cNvSpPr/>
            <p:nvPr/>
          </p:nvSpPr>
          <p:spPr>
            <a:xfrm flipH="false" flipV="false" rot="0">
              <a:off x="0" y="0"/>
              <a:ext cx="1435641" cy="1857282"/>
            </a:xfrm>
            <a:custGeom>
              <a:avLst/>
              <a:gdLst/>
              <a:ahLst/>
              <a:cxnLst/>
              <a:rect r="r" b="b" t="t" l="l"/>
              <a:pathLst>
                <a:path h="1857282" w="1435641">
                  <a:moveTo>
                    <a:pt x="1311180" y="1857282"/>
                  </a:moveTo>
                  <a:lnTo>
                    <a:pt x="124460" y="1857282"/>
                  </a:lnTo>
                  <a:cubicBezTo>
                    <a:pt x="55880" y="1857282"/>
                    <a:pt x="0" y="1801402"/>
                    <a:pt x="0" y="1732822"/>
                  </a:cubicBezTo>
                  <a:lnTo>
                    <a:pt x="0" y="124460"/>
                  </a:lnTo>
                  <a:cubicBezTo>
                    <a:pt x="0" y="55880"/>
                    <a:pt x="55880" y="0"/>
                    <a:pt x="124460" y="0"/>
                  </a:cubicBezTo>
                  <a:lnTo>
                    <a:pt x="1311181" y="0"/>
                  </a:lnTo>
                  <a:cubicBezTo>
                    <a:pt x="1379760" y="0"/>
                    <a:pt x="1435641" y="55880"/>
                    <a:pt x="1435641" y="124460"/>
                  </a:cubicBezTo>
                  <a:lnTo>
                    <a:pt x="1435641" y="1732822"/>
                  </a:lnTo>
                  <a:cubicBezTo>
                    <a:pt x="1435641" y="1801402"/>
                    <a:pt x="1379760" y="1857282"/>
                    <a:pt x="1311181" y="1857282"/>
                  </a:cubicBezTo>
                  <a:close/>
                </a:path>
              </a:pathLst>
            </a:custGeom>
            <a:solidFill>
              <a:srgbClr val="FFFFFF"/>
            </a:solidFill>
          </p:spPr>
        </p:sp>
      </p:grpSp>
      <p:grpSp>
        <p:nvGrpSpPr>
          <p:cNvPr name="Group 4" id="4"/>
          <p:cNvGrpSpPr/>
          <p:nvPr/>
        </p:nvGrpSpPr>
        <p:grpSpPr>
          <a:xfrm rot="0">
            <a:off x="12228219" y="6720677"/>
            <a:ext cx="5256944" cy="2053427"/>
            <a:chOff x="0" y="0"/>
            <a:chExt cx="1690679" cy="660400"/>
          </a:xfrm>
        </p:grpSpPr>
        <p:sp>
          <p:nvSpPr>
            <p:cNvPr name="Freeform 5" id="5"/>
            <p:cNvSpPr/>
            <p:nvPr/>
          </p:nvSpPr>
          <p:spPr>
            <a:xfrm flipH="false" flipV="false" rot="0">
              <a:off x="0" y="0"/>
              <a:ext cx="1690679" cy="660400"/>
            </a:xfrm>
            <a:custGeom>
              <a:avLst/>
              <a:gdLst/>
              <a:ahLst/>
              <a:cxnLst/>
              <a:rect r="r" b="b" t="t" l="l"/>
              <a:pathLst>
                <a:path h="660400" w="1690679">
                  <a:moveTo>
                    <a:pt x="1566219" y="660400"/>
                  </a:moveTo>
                  <a:lnTo>
                    <a:pt x="124460" y="660400"/>
                  </a:lnTo>
                  <a:cubicBezTo>
                    <a:pt x="55880" y="660400"/>
                    <a:pt x="0" y="604520"/>
                    <a:pt x="0" y="535940"/>
                  </a:cubicBezTo>
                  <a:lnTo>
                    <a:pt x="0" y="124460"/>
                  </a:lnTo>
                  <a:cubicBezTo>
                    <a:pt x="0" y="55880"/>
                    <a:pt x="55880" y="0"/>
                    <a:pt x="124460" y="0"/>
                  </a:cubicBezTo>
                  <a:lnTo>
                    <a:pt x="1566219" y="0"/>
                  </a:lnTo>
                  <a:cubicBezTo>
                    <a:pt x="1634799" y="0"/>
                    <a:pt x="1690679" y="55880"/>
                    <a:pt x="1690679" y="124460"/>
                  </a:cubicBezTo>
                  <a:lnTo>
                    <a:pt x="1690679" y="535940"/>
                  </a:lnTo>
                  <a:cubicBezTo>
                    <a:pt x="1690679" y="604520"/>
                    <a:pt x="1634799" y="660400"/>
                    <a:pt x="1566219" y="660400"/>
                  </a:cubicBezTo>
                  <a:close/>
                </a:path>
              </a:pathLst>
            </a:custGeom>
            <a:solidFill>
              <a:srgbClr val="196E63"/>
            </a:solidFill>
          </p:spPr>
        </p:sp>
      </p:grpSp>
      <p:sp>
        <p:nvSpPr>
          <p:cNvPr name="Freeform 6" id="6"/>
          <p:cNvSpPr/>
          <p:nvPr/>
        </p:nvSpPr>
        <p:spPr>
          <a:xfrm flipH="false" flipV="false" rot="0">
            <a:off x="392888" y="2463587"/>
            <a:ext cx="11301259" cy="5820148"/>
          </a:xfrm>
          <a:custGeom>
            <a:avLst/>
            <a:gdLst/>
            <a:ahLst/>
            <a:cxnLst/>
            <a:rect r="r" b="b" t="t" l="l"/>
            <a:pathLst>
              <a:path h="5820148" w="11301259">
                <a:moveTo>
                  <a:pt x="0" y="0"/>
                </a:moveTo>
                <a:lnTo>
                  <a:pt x="11301259" y="0"/>
                </a:lnTo>
                <a:lnTo>
                  <a:pt x="11301259" y="5820148"/>
                </a:lnTo>
                <a:lnTo>
                  <a:pt x="0" y="5820148"/>
                </a:lnTo>
                <a:lnTo>
                  <a:pt x="0" y="0"/>
                </a:lnTo>
                <a:close/>
              </a:path>
            </a:pathLst>
          </a:custGeom>
          <a:blipFill>
            <a:blip r:embed="rId2"/>
            <a:stretch>
              <a:fillRect l="0" t="0" r="0" b="0"/>
            </a:stretch>
          </a:blipFill>
        </p:spPr>
      </p:sp>
      <p:sp>
        <p:nvSpPr>
          <p:cNvPr name="TextBox 7" id="7"/>
          <p:cNvSpPr txBox="true"/>
          <p:nvPr/>
        </p:nvSpPr>
        <p:spPr>
          <a:xfrm rot="0">
            <a:off x="12926341" y="2982215"/>
            <a:ext cx="3991331" cy="955675"/>
          </a:xfrm>
          <a:prstGeom prst="rect">
            <a:avLst/>
          </a:prstGeom>
        </p:spPr>
        <p:txBody>
          <a:bodyPr anchor="t" rtlCol="false" tIns="0" lIns="0" bIns="0" rIns="0">
            <a:spAutoFit/>
          </a:bodyPr>
          <a:lstStyle/>
          <a:p>
            <a:pPr algn="l">
              <a:lnSpc>
                <a:spcPts val="7475"/>
              </a:lnSpc>
            </a:pPr>
            <a:r>
              <a:rPr lang="en-US" sz="6500">
                <a:solidFill>
                  <a:srgbClr val="196E63"/>
                </a:solidFill>
                <a:latin typeface="League Spartan"/>
                <a:ea typeface="League Spartan"/>
                <a:cs typeface="League Spartan"/>
                <a:sym typeface="League Spartan"/>
              </a:rPr>
              <a:t>Dryer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F6C58"/>
        </a:solidFill>
      </p:bgPr>
    </p:bg>
    <p:spTree>
      <p:nvGrpSpPr>
        <p:cNvPr id="1" name=""/>
        <p:cNvGrpSpPr/>
        <p:nvPr/>
      </p:nvGrpSpPr>
      <p:grpSpPr>
        <a:xfrm>
          <a:off x="0" y="0"/>
          <a:ext cx="0" cy="0"/>
          <a:chOff x="0" y="0"/>
          <a:chExt cx="0" cy="0"/>
        </a:xfrm>
      </p:grpSpPr>
      <p:grpSp>
        <p:nvGrpSpPr>
          <p:cNvPr name="Group 2" id="2"/>
          <p:cNvGrpSpPr/>
          <p:nvPr/>
        </p:nvGrpSpPr>
        <p:grpSpPr>
          <a:xfrm rot="0">
            <a:off x="1564199" y="862302"/>
            <a:ext cx="6686821" cy="6800886"/>
            <a:chOff x="0" y="0"/>
            <a:chExt cx="1826131" cy="1857282"/>
          </a:xfrm>
        </p:grpSpPr>
        <p:sp>
          <p:nvSpPr>
            <p:cNvPr name="Freeform 3" id="3"/>
            <p:cNvSpPr/>
            <p:nvPr/>
          </p:nvSpPr>
          <p:spPr>
            <a:xfrm flipH="false" flipV="false" rot="0">
              <a:off x="0" y="0"/>
              <a:ext cx="1826132" cy="1857282"/>
            </a:xfrm>
            <a:custGeom>
              <a:avLst/>
              <a:gdLst/>
              <a:ahLst/>
              <a:cxnLst/>
              <a:rect r="r" b="b" t="t" l="l"/>
              <a:pathLst>
                <a:path h="1857282" w="1826132">
                  <a:moveTo>
                    <a:pt x="1701671" y="1857282"/>
                  </a:moveTo>
                  <a:lnTo>
                    <a:pt x="124460" y="1857282"/>
                  </a:lnTo>
                  <a:cubicBezTo>
                    <a:pt x="55880" y="1857282"/>
                    <a:pt x="0" y="1801402"/>
                    <a:pt x="0" y="1732822"/>
                  </a:cubicBezTo>
                  <a:lnTo>
                    <a:pt x="0" y="124460"/>
                  </a:lnTo>
                  <a:cubicBezTo>
                    <a:pt x="0" y="55880"/>
                    <a:pt x="55880" y="0"/>
                    <a:pt x="124460" y="0"/>
                  </a:cubicBezTo>
                  <a:lnTo>
                    <a:pt x="1701672" y="0"/>
                  </a:lnTo>
                  <a:cubicBezTo>
                    <a:pt x="1770251" y="0"/>
                    <a:pt x="1826132" y="55880"/>
                    <a:pt x="1826132" y="124460"/>
                  </a:cubicBezTo>
                  <a:lnTo>
                    <a:pt x="1826132" y="1732822"/>
                  </a:lnTo>
                  <a:cubicBezTo>
                    <a:pt x="1826132" y="1801402"/>
                    <a:pt x="1770251" y="1857282"/>
                    <a:pt x="1701672" y="1857282"/>
                  </a:cubicBezTo>
                  <a:close/>
                </a:path>
              </a:pathLst>
            </a:custGeom>
            <a:solidFill>
              <a:srgbClr val="FFFFFF"/>
            </a:solidFill>
          </p:spPr>
        </p:sp>
      </p:grpSp>
      <p:grpSp>
        <p:nvGrpSpPr>
          <p:cNvPr name="Group 4" id="4"/>
          <p:cNvGrpSpPr/>
          <p:nvPr/>
        </p:nvGrpSpPr>
        <p:grpSpPr>
          <a:xfrm rot="0">
            <a:off x="1564199" y="6840285"/>
            <a:ext cx="5824435" cy="2429401"/>
            <a:chOff x="0" y="0"/>
            <a:chExt cx="1590619" cy="663455"/>
          </a:xfrm>
        </p:grpSpPr>
        <p:sp>
          <p:nvSpPr>
            <p:cNvPr name="Freeform 5" id="5"/>
            <p:cNvSpPr/>
            <p:nvPr/>
          </p:nvSpPr>
          <p:spPr>
            <a:xfrm flipH="false" flipV="false" rot="0">
              <a:off x="0" y="0"/>
              <a:ext cx="1590619" cy="663455"/>
            </a:xfrm>
            <a:custGeom>
              <a:avLst/>
              <a:gdLst/>
              <a:ahLst/>
              <a:cxnLst/>
              <a:rect r="r" b="b" t="t" l="l"/>
              <a:pathLst>
                <a:path h="663455" w="1590619">
                  <a:moveTo>
                    <a:pt x="1466159" y="663455"/>
                  </a:moveTo>
                  <a:lnTo>
                    <a:pt x="124460" y="663455"/>
                  </a:lnTo>
                  <a:cubicBezTo>
                    <a:pt x="55880" y="663455"/>
                    <a:pt x="0" y="607575"/>
                    <a:pt x="0" y="538995"/>
                  </a:cubicBezTo>
                  <a:lnTo>
                    <a:pt x="0" y="124460"/>
                  </a:lnTo>
                  <a:cubicBezTo>
                    <a:pt x="0" y="55880"/>
                    <a:pt x="55880" y="0"/>
                    <a:pt x="124460" y="0"/>
                  </a:cubicBezTo>
                  <a:lnTo>
                    <a:pt x="1466159" y="0"/>
                  </a:lnTo>
                  <a:cubicBezTo>
                    <a:pt x="1534739" y="0"/>
                    <a:pt x="1590619" y="55880"/>
                    <a:pt x="1590619" y="124460"/>
                  </a:cubicBezTo>
                  <a:lnTo>
                    <a:pt x="1590619" y="538995"/>
                  </a:lnTo>
                  <a:cubicBezTo>
                    <a:pt x="1590619" y="607575"/>
                    <a:pt x="1534739" y="663455"/>
                    <a:pt x="1466159" y="663455"/>
                  </a:cubicBezTo>
                  <a:close/>
                </a:path>
              </a:pathLst>
            </a:custGeom>
            <a:solidFill>
              <a:srgbClr val="2E4494"/>
            </a:solidFill>
          </p:spPr>
        </p:sp>
      </p:grpSp>
      <p:sp>
        <p:nvSpPr>
          <p:cNvPr name="Freeform 6" id="6"/>
          <p:cNvSpPr/>
          <p:nvPr/>
        </p:nvSpPr>
        <p:spPr>
          <a:xfrm flipH="true" flipV="false" rot="-10800000">
            <a:off x="4983049" y="6840285"/>
            <a:ext cx="2584413" cy="2584413"/>
          </a:xfrm>
          <a:custGeom>
            <a:avLst/>
            <a:gdLst/>
            <a:ahLst/>
            <a:cxnLst/>
            <a:rect r="r" b="b" t="t" l="l"/>
            <a:pathLst>
              <a:path h="2584413" w="2584413">
                <a:moveTo>
                  <a:pt x="2584414" y="0"/>
                </a:moveTo>
                <a:lnTo>
                  <a:pt x="0" y="0"/>
                </a:lnTo>
                <a:lnTo>
                  <a:pt x="0" y="2584413"/>
                </a:lnTo>
                <a:lnTo>
                  <a:pt x="2584414" y="2584413"/>
                </a:lnTo>
                <a:lnTo>
                  <a:pt x="258441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564199" y="6840285"/>
            <a:ext cx="1282483" cy="1282483"/>
            <a:chOff x="0" y="0"/>
            <a:chExt cx="1913890" cy="1913890"/>
          </a:xfrm>
        </p:grpSpPr>
        <p:sp>
          <p:nvSpPr>
            <p:cNvPr name="Freeform 8" id="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2E4494"/>
            </a:solidFill>
          </p:spPr>
        </p:sp>
      </p:grpSp>
      <p:sp>
        <p:nvSpPr>
          <p:cNvPr name="Freeform 9" id="9"/>
          <p:cNvSpPr/>
          <p:nvPr/>
        </p:nvSpPr>
        <p:spPr>
          <a:xfrm flipH="false" flipV="false" rot="0">
            <a:off x="1564199" y="4802194"/>
            <a:ext cx="6686821" cy="4583328"/>
          </a:xfrm>
          <a:custGeom>
            <a:avLst/>
            <a:gdLst/>
            <a:ahLst/>
            <a:cxnLst/>
            <a:rect r="r" b="b" t="t" l="l"/>
            <a:pathLst>
              <a:path h="4583328" w="6686821">
                <a:moveTo>
                  <a:pt x="0" y="0"/>
                </a:moveTo>
                <a:lnTo>
                  <a:pt x="6686821" y="0"/>
                </a:lnTo>
                <a:lnTo>
                  <a:pt x="6686821" y="4583328"/>
                </a:lnTo>
                <a:lnTo>
                  <a:pt x="0" y="4583328"/>
                </a:lnTo>
                <a:lnTo>
                  <a:pt x="0" y="0"/>
                </a:lnTo>
                <a:close/>
              </a:path>
            </a:pathLst>
          </a:custGeom>
          <a:blipFill>
            <a:blip r:embed="rId4"/>
            <a:stretch>
              <a:fillRect l="0" t="-83082" r="-11386" b="-33593"/>
            </a:stretch>
          </a:blipFill>
        </p:spPr>
      </p:sp>
      <p:sp>
        <p:nvSpPr>
          <p:cNvPr name="Freeform 10" id="10"/>
          <p:cNvSpPr/>
          <p:nvPr/>
        </p:nvSpPr>
        <p:spPr>
          <a:xfrm flipH="false" flipV="false" rot="0">
            <a:off x="7003935" y="4802194"/>
            <a:ext cx="769398" cy="1454188"/>
          </a:xfrm>
          <a:custGeom>
            <a:avLst/>
            <a:gdLst/>
            <a:ahLst/>
            <a:cxnLst/>
            <a:rect r="r" b="b" t="t" l="l"/>
            <a:pathLst>
              <a:path h="1454188" w="769398">
                <a:moveTo>
                  <a:pt x="0" y="0"/>
                </a:moveTo>
                <a:lnTo>
                  <a:pt x="769398" y="0"/>
                </a:lnTo>
                <a:lnTo>
                  <a:pt x="769398" y="1454188"/>
                </a:lnTo>
                <a:lnTo>
                  <a:pt x="0" y="1454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0047634" y="2108119"/>
            <a:ext cx="6463329" cy="6070763"/>
            <a:chOff x="0" y="0"/>
            <a:chExt cx="8617773" cy="8094350"/>
          </a:xfrm>
        </p:grpSpPr>
        <p:sp>
          <p:nvSpPr>
            <p:cNvPr name="TextBox 12" id="12"/>
            <p:cNvSpPr txBox="true"/>
            <p:nvPr/>
          </p:nvSpPr>
          <p:spPr>
            <a:xfrm rot="0">
              <a:off x="0" y="-47625"/>
              <a:ext cx="8617773" cy="961736"/>
            </a:xfrm>
            <a:prstGeom prst="rect">
              <a:avLst/>
            </a:prstGeom>
          </p:spPr>
          <p:txBody>
            <a:bodyPr anchor="t" rtlCol="false" tIns="0" lIns="0" bIns="0" rIns="0">
              <a:spAutoFit/>
            </a:bodyPr>
            <a:lstStyle/>
            <a:p>
              <a:pPr algn="l">
                <a:lnSpc>
                  <a:spcPts val="5850"/>
                </a:lnSpc>
              </a:pPr>
              <a:r>
                <a:rPr lang="en-US" sz="4500">
                  <a:solidFill>
                    <a:srgbClr val="FFFFFF"/>
                  </a:solidFill>
                  <a:latin typeface="League Spartan"/>
                  <a:ea typeface="League Spartan"/>
                  <a:cs typeface="League Spartan"/>
                  <a:sym typeface="League Spartan"/>
                </a:rPr>
                <a:t>IMU Sensors</a:t>
              </a:r>
            </a:p>
          </p:txBody>
        </p:sp>
        <p:sp>
          <p:nvSpPr>
            <p:cNvPr name="TextBox 13" id="13"/>
            <p:cNvSpPr txBox="true"/>
            <p:nvPr/>
          </p:nvSpPr>
          <p:spPr>
            <a:xfrm rot="0">
              <a:off x="0" y="1152837"/>
              <a:ext cx="8617773" cy="2945977"/>
            </a:xfrm>
            <a:prstGeom prst="rect">
              <a:avLst/>
            </a:prstGeom>
          </p:spPr>
          <p:txBody>
            <a:bodyPr anchor="t" rtlCol="false" tIns="0" lIns="0" bIns="0" rIns="0">
              <a:spAutoFit/>
            </a:bodyPr>
            <a:lstStyle/>
            <a:p>
              <a:pPr algn="l">
                <a:lnSpc>
                  <a:spcPts val="4479"/>
                </a:lnSpc>
              </a:pPr>
              <a:r>
                <a:rPr lang="en-US" sz="3199">
                  <a:solidFill>
                    <a:srgbClr val="FFFFFF"/>
                  </a:solidFill>
                  <a:latin typeface="Nunito"/>
                  <a:ea typeface="Nunito"/>
                  <a:cs typeface="Nunito"/>
                  <a:sym typeface="Nunito"/>
                </a:rPr>
                <a:t>Capture acceleration and angular velocity of the machine!</a:t>
              </a:r>
            </a:p>
            <a:p>
              <a:pPr algn="l">
                <a:lnSpc>
                  <a:spcPts val="4479"/>
                </a:lnSpc>
              </a:pPr>
              <a:r>
                <a:rPr lang="en-US" sz="3199">
                  <a:solidFill>
                    <a:srgbClr val="FFFFFF"/>
                  </a:solidFill>
                  <a:latin typeface="Nunito"/>
                  <a:ea typeface="Nunito"/>
                  <a:cs typeface="Nunito"/>
                  <a:sym typeface="Nunito"/>
                </a:rPr>
                <a:t>Provides analog reading for machine learning model :)</a:t>
              </a:r>
            </a:p>
          </p:txBody>
        </p:sp>
        <p:sp>
          <p:nvSpPr>
            <p:cNvPr name="TextBox 14" id="14"/>
            <p:cNvSpPr txBox="true"/>
            <p:nvPr/>
          </p:nvSpPr>
          <p:spPr>
            <a:xfrm rot="0">
              <a:off x="0" y="5541338"/>
              <a:ext cx="8617773" cy="961736"/>
            </a:xfrm>
            <a:prstGeom prst="rect">
              <a:avLst/>
            </a:prstGeom>
          </p:spPr>
          <p:txBody>
            <a:bodyPr anchor="t" rtlCol="false" tIns="0" lIns="0" bIns="0" rIns="0">
              <a:spAutoFit/>
            </a:bodyPr>
            <a:lstStyle/>
            <a:p>
              <a:pPr algn="l">
                <a:lnSpc>
                  <a:spcPts val="5850"/>
                </a:lnSpc>
              </a:pPr>
              <a:r>
                <a:rPr lang="en-US" sz="4500">
                  <a:solidFill>
                    <a:srgbClr val="FFFFFF"/>
                  </a:solidFill>
                  <a:latin typeface="League Spartan"/>
                  <a:ea typeface="League Spartan"/>
                  <a:cs typeface="League Spartan"/>
                  <a:sym typeface="League Spartan"/>
                </a:rPr>
                <a:t>Vibration Sensor</a:t>
              </a:r>
            </a:p>
          </p:txBody>
        </p:sp>
        <p:sp>
          <p:nvSpPr>
            <p:cNvPr name="TextBox 15" id="15"/>
            <p:cNvSpPr txBox="true"/>
            <p:nvPr/>
          </p:nvSpPr>
          <p:spPr>
            <a:xfrm rot="0">
              <a:off x="0" y="6751325"/>
              <a:ext cx="8617773" cy="1343025"/>
            </a:xfrm>
            <a:prstGeom prst="rect">
              <a:avLst/>
            </a:prstGeom>
          </p:spPr>
          <p:txBody>
            <a:bodyPr anchor="t" rtlCol="false" tIns="0" lIns="0" bIns="0" rIns="0">
              <a:spAutoFit/>
            </a:bodyPr>
            <a:lstStyle/>
            <a:p>
              <a:pPr algn="l">
                <a:lnSpc>
                  <a:spcPts val="4199"/>
                </a:lnSpc>
              </a:pPr>
              <a:r>
                <a:rPr lang="en-US" sz="2999">
                  <a:solidFill>
                    <a:srgbClr val="FFFFFF"/>
                  </a:solidFill>
                  <a:latin typeface="Nunito"/>
                  <a:ea typeface="Nunito"/>
                  <a:cs typeface="Nunito"/>
                  <a:sym typeface="Nunito"/>
                </a:rPr>
                <a:t>Capture vibration and provide digital readings.</a:t>
              </a:r>
            </a:p>
          </p:txBody>
        </p:sp>
      </p:grpSp>
      <p:sp>
        <p:nvSpPr>
          <p:cNvPr name="TextBox 16" id="16"/>
          <p:cNvSpPr txBox="true"/>
          <p:nvPr/>
        </p:nvSpPr>
        <p:spPr>
          <a:xfrm rot="0">
            <a:off x="2131690" y="1871300"/>
            <a:ext cx="4689452" cy="953297"/>
          </a:xfrm>
          <a:prstGeom prst="rect">
            <a:avLst/>
          </a:prstGeom>
        </p:spPr>
        <p:txBody>
          <a:bodyPr anchor="t" rtlCol="false" tIns="0" lIns="0" bIns="0" rIns="0">
            <a:spAutoFit/>
          </a:bodyPr>
          <a:lstStyle/>
          <a:p>
            <a:pPr algn="l">
              <a:lnSpc>
                <a:spcPts val="7475"/>
              </a:lnSpc>
            </a:pPr>
            <a:r>
              <a:rPr lang="en-US" sz="6500">
                <a:solidFill>
                  <a:srgbClr val="2E4494"/>
                </a:solidFill>
                <a:latin typeface="League Spartan"/>
                <a:ea typeface="League Spartan"/>
                <a:cs typeface="League Spartan"/>
                <a:sym typeface="League Spartan"/>
              </a:rPr>
              <a:t>Sensors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F6C58"/>
        </a:solidFill>
      </p:bgPr>
    </p:bg>
    <p:spTree>
      <p:nvGrpSpPr>
        <p:cNvPr id="1" name=""/>
        <p:cNvGrpSpPr/>
        <p:nvPr/>
      </p:nvGrpSpPr>
      <p:grpSpPr>
        <a:xfrm>
          <a:off x="0" y="0"/>
          <a:ext cx="0" cy="0"/>
          <a:chOff x="0" y="0"/>
          <a:chExt cx="0" cy="0"/>
        </a:xfrm>
      </p:grpSpPr>
      <p:grpSp>
        <p:nvGrpSpPr>
          <p:cNvPr name="Group 2" id="2"/>
          <p:cNvGrpSpPr/>
          <p:nvPr/>
        </p:nvGrpSpPr>
        <p:grpSpPr>
          <a:xfrm rot="0">
            <a:off x="1564199" y="862302"/>
            <a:ext cx="6686821" cy="6800886"/>
            <a:chOff x="0" y="0"/>
            <a:chExt cx="1826131" cy="1857282"/>
          </a:xfrm>
        </p:grpSpPr>
        <p:sp>
          <p:nvSpPr>
            <p:cNvPr name="Freeform 3" id="3"/>
            <p:cNvSpPr/>
            <p:nvPr/>
          </p:nvSpPr>
          <p:spPr>
            <a:xfrm flipH="false" flipV="false" rot="0">
              <a:off x="0" y="0"/>
              <a:ext cx="1826132" cy="1857282"/>
            </a:xfrm>
            <a:custGeom>
              <a:avLst/>
              <a:gdLst/>
              <a:ahLst/>
              <a:cxnLst/>
              <a:rect r="r" b="b" t="t" l="l"/>
              <a:pathLst>
                <a:path h="1857282" w="1826132">
                  <a:moveTo>
                    <a:pt x="1701671" y="1857282"/>
                  </a:moveTo>
                  <a:lnTo>
                    <a:pt x="124460" y="1857282"/>
                  </a:lnTo>
                  <a:cubicBezTo>
                    <a:pt x="55880" y="1857282"/>
                    <a:pt x="0" y="1801402"/>
                    <a:pt x="0" y="1732822"/>
                  </a:cubicBezTo>
                  <a:lnTo>
                    <a:pt x="0" y="124460"/>
                  </a:lnTo>
                  <a:cubicBezTo>
                    <a:pt x="0" y="55880"/>
                    <a:pt x="55880" y="0"/>
                    <a:pt x="124460" y="0"/>
                  </a:cubicBezTo>
                  <a:lnTo>
                    <a:pt x="1701672" y="0"/>
                  </a:lnTo>
                  <a:cubicBezTo>
                    <a:pt x="1770251" y="0"/>
                    <a:pt x="1826132" y="55880"/>
                    <a:pt x="1826132" y="124460"/>
                  </a:cubicBezTo>
                  <a:lnTo>
                    <a:pt x="1826132" y="1732822"/>
                  </a:lnTo>
                  <a:cubicBezTo>
                    <a:pt x="1826132" y="1801402"/>
                    <a:pt x="1770251" y="1857282"/>
                    <a:pt x="1701672" y="1857282"/>
                  </a:cubicBezTo>
                  <a:close/>
                </a:path>
              </a:pathLst>
            </a:custGeom>
            <a:solidFill>
              <a:srgbClr val="FFFFFF"/>
            </a:solidFill>
          </p:spPr>
        </p:sp>
      </p:grpSp>
      <p:grpSp>
        <p:nvGrpSpPr>
          <p:cNvPr name="Group 4" id="4"/>
          <p:cNvGrpSpPr/>
          <p:nvPr/>
        </p:nvGrpSpPr>
        <p:grpSpPr>
          <a:xfrm rot="0">
            <a:off x="1564199" y="6840285"/>
            <a:ext cx="5824435" cy="2429401"/>
            <a:chOff x="0" y="0"/>
            <a:chExt cx="1590619" cy="663455"/>
          </a:xfrm>
        </p:grpSpPr>
        <p:sp>
          <p:nvSpPr>
            <p:cNvPr name="Freeform 5" id="5"/>
            <p:cNvSpPr/>
            <p:nvPr/>
          </p:nvSpPr>
          <p:spPr>
            <a:xfrm flipH="false" flipV="false" rot="0">
              <a:off x="0" y="0"/>
              <a:ext cx="1590619" cy="663455"/>
            </a:xfrm>
            <a:custGeom>
              <a:avLst/>
              <a:gdLst/>
              <a:ahLst/>
              <a:cxnLst/>
              <a:rect r="r" b="b" t="t" l="l"/>
              <a:pathLst>
                <a:path h="663455" w="1590619">
                  <a:moveTo>
                    <a:pt x="1466159" y="663455"/>
                  </a:moveTo>
                  <a:lnTo>
                    <a:pt x="124460" y="663455"/>
                  </a:lnTo>
                  <a:cubicBezTo>
                    <a:pt x="55880" y="663455"/>
                    <a:pt x="0" y="607575"/>
                    <a:pt x="0" y="538995"/>
                  </a:cubicBezTo>
                  <a:lnTo>
                    <a:pt x="0" y="124460"/>
                  </a:lnTo>
                  <a:cubicBezTo>
                    <a:pt x="0" y="55880"/>
                    <a:pt x="55880" y="0"/>
                    <a:pt x="124460" y="0"/>
                  </a:cubicBezTo>
                  <a:lnTo>
                    <a:pt x="1466159" y="0"/>
                  </a:lnTo>
                  <a:cubicBezTo>
                    <a:pt x="1534739" y="0"/>
                    <a:pt x="1590619" y="55880"/>
                    <a:pt x="1590619" y="124460"/>
                  </a:cubicBezTo>
                  <a:lnTo>
                    <a:pt x="1590619" y="538995"/>
                  </a:lnTo>
                  <a:cubicBezTo>
                    <a:pt x="1590619" y="607575"/>
                    <a:pt x="1534739" y="663455"/>
                    <a:pt x="1466159" y="663455"/>
                  </a:cubicBezTo>
                  <a:close/>
                </a:path>
              </a:pathLst>
            </a:custGeom>
            <a:solidFill>
              <a:srgbClr val="2E4494"/>
            </a:solidFill>
          </p:spPr>
        </p:sp>
      </p:grpSp>
      <p:sp>
        <p:nvSpPr>
          <p:cNvPr name="Freeform 6" id="6"/>
          <p:cNvSpPr/>
          <p:nvPr/>
        </p:nvSpPr>
        <p:spPr>
          <a:xfrm flipH="true" flipV="false" rot="-10800000">
            <a:off x="4983049" y="6840285"/>
            <a:ext cx="2584413" cy="2584413"/>
          </a:xfrm>
          <a:custGeom>
            <a:avLst/>
            <a:gdLst/>
            <a:ahLst/>
            <a:cxnLst/>
            <a:rect r="r" b="b" t="t" l="l"/>
            <a:pathLst>
              <a:path h="2584413" w="2584413">
                <a:moveTo>
                  <a:pt x="2584414" y="0"/>
                </a:moveTo>
                <a:lnTo>
                  <a:pt x="0" y="0"/>
                </a:lnTo>
                <a:lnTo>
                  <a:pt x="0" y="2584413"/>
                </a:lnTo>
                <a:lnTo>
                  <a:pt x="2584414" y="2584413"/>
                </a:lnTo>
                <a:lnTo>
                  <a:pt x="258441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564199" y="6840285"/>
            <a:ext cx="1282483" cy="1282483"/>
            <a:chOff x="0" y="0"/>
            <a:chExt cx="1913890" cy="1913890"/>
          </a:xfrm>
        </p:grpSpPr>
        <p:sp>
          <p:nvSpPr>
            <p:cNvPr name="Freeform 8" id="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2E4494"/>
            </a:solidFill>
          </p:spPr>
        </p:sp>
      </p:grpSp>
      <p:sp>
        <p:nvSpPr>
          <p:cNvPr name="Freeform 9" id="9"/>
          <p:cNvSpPr/>
          <p:nvPr/>
        </p:nvSpPr>
        <p:spPr>
          <a:xfrm flipH="false" flipV="false" rot="-5400000">
            <a:off x="3005819" y="4024485"/>
            <a:ext cx="3803579" cy="6686821"/>
          </a:xfrm>
          <a:custGeom>
            <a:avLst/>
            <a:gdLst/>
            <a:ahLst/>
            <a:cxnLst/>
            <a:rect r="r" b="b" t="t" l="l"/>
            <a:pathLst>
              <a:path h="6686821" w="3803579">
                <a:moveTo>
                  <a:pt x="0" y="0"/>
                </a:moveTo>
                <a:lnTo>
                  <a:pt x="3803580" y="0"/>
                </a:lnTo>
                <a:lnTo>
                  <a:pt x="3803580" y="6686821"/>
                </a:lnTo>
                <a:lnTo>
                  <a:pt x="0" y="6686821"/>
                </a:lnTo>
                <a:lnTo>
                  <a:pt x="0" y="0"/>
                </a:lnTo>
                <a:close/>
              </a:path>
            </a:pathLst>
          </a:custGeom>
          <a:blipFill>
            <a:blip r:embed="rId4"/>
            <a:stretch>
              <a:fillRect l="-24495" t="-10606" r="-21342" b="0"/>
            </a:stretch>
          </a:blipFill>
        </p:spPr>
      </p:sp>
      <p:sp>
        <p:nvSpPr>
          <p:cNvPr name="Freeform 10" id="10"/>
          <p:cNvSpPr/>
          <p:nvPr/>
        </p:nvSpPr>
        <p:spPr>
          <a:xfrm flipH="false" flipV="false" rot="-5400000">
            <a:off x="9918738" y="5522163"/>
            <a:ext cx="3538555" cy="4718073"/>
          </a:xfrm>
          <a:custGeom>
            <a:avLst/>
            <a:gdLst/>
            <a:ahLst/>
            <a:cxnLst/>
            <a:rect r="r" b="b" t="t" l="l"/>
            <a:pathLst>
              <a:path h="4718073" w="3538555">
                <a:moveTo>
                  <a:pt x="0" y="0"/>
                </a:moveTo>
                <a:lnTo>
                  <a:pt x="3538555" y="0"/>
                </a:lnTo>
                <a:lnTo>
                  <a:pt x="3538555" y="4718073"/>
                </a:lnTo>
                <a:lnTo>
                  <a:pt x="0" y="4718073"/>
                </a:lnTo>
                <a:lnTo>
                  <a:pt x="0" y="0"/>
                </a:lnTo>
                <a:close/>
              </a:path>
            </a:pathLst>
          </a:custGeom>
          <a:blipFill>
            <a:blip r:embed="rId5"/>
            <a:stretch>
              <a:fillRect l="0" t="0" r="0" b="0"/>
            </a:stretch>
          </a:blipFill>
        </p:spPr>
      </p:sp>
      <p:grpSp>
        <p:nvGrpSpPr>
          <p:cNvPr name="Group 11" id="11"/>
          <p:cNvGrpSpPr/>
          <p:nvPr/>
        </p:nvGrpSpPr>
        <p:grpSpPr>
          <a:xfrm rot="0">
            <a:off x="9328979" y="1359888"/>
            <a:ext cx="6463329" cy="4422938"/>
            <a:chOff x="0" y="0"/>
            <a:chExt cx="8617773" cy="5897250"/>
          </a:xfrm>
        </p:grpSpPr>
        <p:sp>
          <p:nvSpPr>
            <p:cNvPr name="TextBox 12" id="12"/>
            <p:cNvSpPr txBox="true"/>
            <p:nvPr/>
          </p:nvSpPr>
          <p:spPr>
            <a:xfrm rot="0">
              <a:off x="0" y="-47625"/>
              <a:ext cx="8617773" cy="961736"/>
            </a:xfrm>
            <a:prstGeom prst="rect">
              <a:avLst/>
            </a:prstGeom>
          </p:spPr>
          <p:txBody>
            <a:bodyPr anchor="t" rtlCol="false" tIns="0" lIns="0" bIns="0" rIns="0">
              <a:spAutoFit/>
            </a:bodyPr>
            <a:lstStyle/>
            <a:p>
              <a:pPr algn="l">
                <a:lnSpc>
                  <a:spcPts val="5850"/>
                </a:lnSpc>
              </a:pPr>
              <a:r>
                <a:rPr lang="en-US" sz="4500">
                  <a:solidFill>
                    <a:srgbClr val="FFFFFF"/>
                  </a:solidFill>
                  <a:latin typeface="League Spartan"/>
                  <a:ea typeface="League Spartan"/>
                  <a:cs typeface="League Spartan"/>
                  <a:sym typeface="League Spartan"/>
                </a:rPr>
                <a:t>ESP32 Eye</a:t>
              </a:r>
            </a:p>
          </p:txBody>
        </p:sp>
        <p:sp>
          <p:nvSpPr>
            <p:cNvPr name="TextBox 13" id="13"/>
            <p:cNvSpPr txBox="true"/>
            <p:nvPr/>
          </p:nvSpPr>
          <p:spPr>
            <a:xfrm rot="0">
              <a:off x="0" y="1152837"/>
              <a:ext cx="8617773" cy="1447377"/>
            </a:xfrm>
            <a:prstGeom prst="rect">
              <a:avLst/>
            </a:prstGeom>
          </p:spPr>
          <p:txBody>
            <a:bodyPr anchor="t" rtlCol="false" tIns="0" lIns="0" bIns="0" rIns="0">
              <a:spAutoFit/>
            </a:bodyPr>
            <a:lstStyle/>
            <a:p>
              <a:pPr algn="l">
                <a:lnSpc>
                  <a:spcPts val="4479"/>
                </a:lnSpc>
              </a:pPr>
              <a:r>
                <a:rPr lang="en-US" sz="3199">
                  <a:solidFill>
                    <a:srgbClr val="FFFFFF"/>
                  </a:solidFill>
                  <a:latin typeface="Nunito"/>
                  <a:ea typeface="Nunito"/>
                  <a:cs typeface="Nunito"/>
                  <a:sym typeface="Nunito"/>
                </a:rPr>
                <a:t>Capture people in front of the laundry machine!</a:t>
              </a:r>
            </a:p>
          </p:txBody>
        </p:sp>
        <p:sp>
          <p:nvSpPr>
            <p:cNvPr name="TextBox 14" id="14"/>
            <p:cNvSpPr txBox="true"/>
            <p:nvPr/>
          </p:nvSpPr>
          <p:spPr>
            <a:xfrm rot="0">
              <a:off x="0" y="4042738"/>
              <a:ext cx="8617773" cy="961736"/>
            </a:xfrm>
            <a:prstGeom prst="rect">
              <a:avLst/>
            </a:prstGeom>
          </p:spPr>
          <p:txBody>
            <a:bodyPr anchor="t" rtlCol="false" tIns="0" lIns="0" bIns="0" rIns="0">
              <a:spAutoFit/>
            </a:bodyPr>
            <a:lstStyle/>
            <a:p>
              <a:pPr algn="l">
                <a:lnSpc>
                  <a:spcPts val="5850"/>
                </a:lnSpc>
              </a:pPr>
              <a:r>
                <a:rPr lang="en-US" sz="4500">
                  <a:solidFill>
                    <a:srgbClr val="FFFFFF"/>
                  </a:solidFill>
                  <a:latin typeface="League Spartan"/>
                  <a:ea typeface="League Spartan"/>
                  <a:cs typeface="League Spartan"/>
                  <a:sym typeface="League Spartan"/>
                </a:rPr>
                <a:t>3D printed case</a:t>
              </a:r>
            </a:p>
          </p:txBody>
        </p:sp>
        <p:sp>
          <p:nvSpPr>
            <p:cNvPr name="TextBox 15" id="15"/>
            <p:cNvSpPr txBox="true"/>
            <p:nvPr/>
          </p:nvSpPr>
          <p:spPr>
            <a:xfrm rot="0">
              <a:off x="0" y="5252725"/>
              <a:ext cx="8617773" cy="644525"/>
            </a:xfrm>
            <a:prstGeom prst="rect">
              <a:avLst/>
            </a:prstGeom>
          </p:spPr>
          <p:txBody>
            <a:bodyPr anchor="t" rtlCol="false" tIns="0" lIns="0" bIns="0" rIns="0">
              <a:spAutoFit/>
            </a:bodyPr>
            <a:lstStyle/>
            <a:p>
              <a:pPr algn="l">
                <a:lnSpc>
                  <a:spcPts val="4199"/>
                </a:lnSpc>
              </a:pPr>
              <a:r>
                <a:rPr lang="en-US" sz="2999">
                  <a:solidFill>
                    <a:srgbClr val="FFFFFF"/>
                  </a:solidFill>
                  <a:latin typeface="Nunito"/>
                  <a:ea typeface="Nunito"/>
                  <a:cs typeface="Nunito"/>
                  <a:sym typeface="Nunito"/>
                </a:rPr>
                <a:t>Protective case to hold the camer :)</a:t>
              </a:r>
            </a:p>
          </p:txBody>
        </p:sp>
      </p:grpSp>
      <p:sp>
        <p:nvSpPr>
          <p:cNvPr name="TextBox 16" id="16"/>
          <p:cNvSpPr txBox="true"/>
          <p:nvPr/>
        </p:nvSpPr>
        <p:spPr>
          <a:xfrm rot="0">
            <a:off x="2131690" y="1871300"/>
            <a:ext cx="4689452" cy="1893893"/>
          </a:xfrm>
          <a:prstGeom prst="rect">
            <a:avLst/>
          </a:prstGeom>
        </p:spPr>
        <p:txBody>
          <a:bodyPr anchor="t" rtlCol="false" tIns="0" lIns="0" bIns="0" rIns="0">
            <a:spAutoFit/>
          </a:bodyPr>
          <a:lstStyle/>
          <a:p>
            <a:pPr algn="l">
              <a:lnSpc>
                <a:spcPts val="7475"/>
              </a:lnSpc>
            </a:pPr>
            <a:r>
              <a:rPr lang="en-US" sz="6500">
                <a:solidFill>
                  <a:srgbClr val="2E4494"/>
                </a:solidFill>
                <a:latin typeface="League Spartan"/>
                <a:ea typeface="League Spartan"/>
                <a:cs typeface="League Spartan"/>
                <a:sym typeface="League Spartan"/>
              </a:rPr>
              <a:t>ESP32 Eye</a:t>
            </a:r>
          </a:p>
          <a:p>
            <a:pPr algn="l">
              <a:lnSpc>
                <a:spcPts val="7475"/>
              </a:lnSpc>
            </a:pPr>
            <a:r>
              <a:rPr lang="en-US" sz="6500">
                <a:solidFill>
                  <a:srgbClr val="2E4494"/>
                </a:solidFill>
                <a:latin typeface="League Spartan"/>
                <a:ea typeface="League Spartan"/>
                <a:cs typeface="League Spartan"/>
                <a:sym typeface="League Spartan"/>
              </a:rPr>
              <a:t>Camera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E4494"/>
        </a:solidFill>
      </p:bgPr>
    </p:bg>
    <p:spTree>
      <p:nvGrpSpPr>
        <p:cNvPr id="1" name=""/>
        <p:cNvGrpSpPr/>
        <p:nvPr/>
      </p:nvGrpSpPr>
      <p:grpSpPr>
        <a:xfrm>
          <a:off x="0" y="0"/>
          <a:ext cx="0" cy="0"/>
          <a:chOff x="0" y="0"/>
          <a:chExt cx="0" cy="0"/>
        </a:xfrm>
      </p:grpSpPr>
      <p:grpSp>
        <p:nvGrpSpPr>
          <p:cNvPr name="Group 2" id="2"/>
          <p:cNvGrpSpPr/>
          <p:nvPr/>
        </p:nvGrpSpPr>
        <p:grpSpPr>
          <a:xfrm rot="0">
            <a:off x="1028700" y="2776631"/>
            <a:ext cx="8115300" cy="4733738"/>
            <a:chOff x="0" y="0"/>
            <a:chExt cx="10820400" cy="6311651"/>
          </a:xfrm>
        </p:grpSpPr>
        <p:grpSp>
          <p:nvGrpSpPr>
            <p:cNvPr name="Group 3" id="3"/>
            <p:cNvGrpSpPr/>
            <p:nvPr/>
          </p:nvGrpSpPr>
          <p:grpSpPr>
            <a:xfrm rot="0">
              <a:off x="0" y="0"/>
              <a:ext cx="10820400" cy="6311651"/>
              <a:chOff x="0" y="0"/>
              <a:chExt cx="2463123" cy="1436765"/>
            </a:xfrm>
          </p:grpSpPr>
          <p:sp>
            <p:nvSpPr>
              <p:cNvPr name="Freeform 4" id="4"/>
              <p:cNvSpPr/>
              <p:nvPr/>
            </p:nvSpPr>
            <p:spPr>
              <a:xfrm flipH="false" flipV="false" rot="0">
                <a:off x="0" y="0"/>
                <a:ext cx="2463123" cy="1436765"/>
              </a:xfrm>
              <a:custGeom>
                <a:avLst/>
                <a:gdLst/>
                <a:ahLst/>
                <a:cxnLst/>
                <a:rect r="r" b="b" t="t" l="l"/>
                <a:pathLst>
                  <a:path h="1436765" w="2463123">
                    <a:moveTo>
                      <a:pt x="2338663" y="1436765"/>
                    </a:moveTo>
                    <a:lnTo>
                      <a:pt x="124460" y="1436765"/>
                    </a:lnTo>
                    <a:cubicBezTo>
                      <a:pt x="55880" y="1436765"/>
                      <a:pt x="0" y="1380885"/>
                      <a:pt x="0" y="1312305"/>
                    </a:cubicBezTo>
                    <a:lnTo>
                      <a:pt x="0" y="124460"/>
                    </a:lnTo>
                    <a:cubicBezTo>
                      <a:pt x="0" y="55880"/>
                      <a:pt x="55880" y="0"/>
                      <a:pt x="124460" y="0"/>
                    </a:cubicBezTo>
                    <a:lnTo>
                      <a:pt x="2338663" y="0"/>
                    </a:lnTo>
                    <a:cubicBezTo>
                      <a:pt x="2407243" y="0"/>
                      <a:pt x="2463123" y="55880"/>
                      <a:pt x="2463123" y="124460"/>
                    </a:cubicBezTo>
                    <a:lnTo>
                      <a:pt x="2463123" y="1312305"/>
                    </a:lnTo>
                    <a:cubicBezTo>
                      <a:pt x="2463123" y="1380885"/>
                      <a:pt x="2407243" y="1436765"/>
                      <a:pt x="2338663" y="1436765"/>
                    </a:cubicBezTo>
                    <a:close/>
                  </a:path>
                </a:pathLst>
              </a:custGeom>
              <a:solidFill>
                <a:srgbClr val="FFFFFF"/>
              </a:solidFill>
            </p:spPr>
          </p:sp>
        </p:grpSp>
        <p:sp>
          <p:nvSpPr>
            <p:cNvPr name="TextBox 5" id="5"/>
            <p:cNvSpPr txBox="true"/>
            <p:nvPr/>
          </p:nvSpPr>
          <p:spPr>
            <a:xfrm rot="0">
              <a:off x="1379125" y="1183310"/>
              <a:ext cx="8062150" cy="2151592"/>
            </a:xfrm>
            <a:prstGeom prst="rect">
              <a:avLst/>
            </a:prstGeom>
          </p:spPr>
          <p:txBody>
            <a:bodyPr anchor="t" rtlCol="false" tIns="0" lIns="0" bIns="0" rIns="0">
              <a:spAutoFit/>
            </a:bodyPr>
            <a:lstStyle/>
            <a:p>
              <a:pPr algn="l">
                <a:lnSpc>
                  <a:spcPts val="6324"/>
                </a:lnSpc>
              </a:pPr>
              <a:r>
                <a:rPr lang="en-US" sz="5499">
                  <a:solidFill>
                    <a:srgbClr val="CF6C58"/>
                  </a:solidFill>
                  <a:latin typeface="League Spartan"/>
                  <a:ea typeface="League Spartan"/>
                  <a:cs typeface="League Spartan"/>
                  <a:sym typeface="League Spartan"/>
                </a:rPr>
                <a:t>ESP32 Microcontrollers </a:t>
              </a:r>
            </a:p>
          </p:txBody>
        </p:sp>
        <p:sp>
          <p:nvSpPr>
            <p:cNvPr name="TextBox 6" id="6"/>
            <p:cNvSpPr txBox="true"/>
            <p:nvPr/>
          </p:nvSpPr>
          <p:spPr>
            <a:xfrm rot="0">
              <a:off x="1379125" y="3732505"/>
              <a:ext cx="8062150" cy="1424411"/>
            </a:xfrm>
            <a:prstGeom prst="rect">
              <a:avLst/>
            </a:prstGeom>
          </p:spPr>
          <p:txBody>
            <a:bodyPr anchor="t" rtlCol="false" tIns="0" lIns="0" bIns="0" rIns="0">
              <a:spAutoFit/>
            </a:bodyPr>
            <a:lstStyle/>
            <a:p>
              <a:pPr algn="l">
                <a:lnSpc>
                  <a:spcPts val="4479"/>
                </a:lnSpc>
              </a:pPr>
              <a:r>
                <a:rPr lang="en-US" sz="3199">
                  <a:solidFill>
                    <a:srgbClr val="000000"/>
                  </a:solidFill>
                  <a:latin typeface="Nunito"/>
                  <a:ea typeface="Nunito"/>
                  <a:cs typeface="Nunito"/>
                  <a:sym typeface="Nunito"/>
                </a:rPr>
                <a:t>connect to the sensors/ camera and send data to the cloud!</a:t>
              </a:r>
            </a:p>
          </p:txBody>
        </p:sp>
      </p:grpSp>
      <p:sp>
        <p:nvSpPr>
          <p:cNvPr name="Freeform 7" id="7"/>
          <p:cNvSpPr/>
          <p:nvPr/>
        </p:nvSpPr>
        <p:spPr>
          <a:xfrm flipH="false" flipV="false" rot="0">
            <a:off x="11005450" y="1028700"/>
            <a:ext cx="6253850" cy="8229600"/>
          </a:xfrm>
          <a:custGeom>
            <a:avLst/>
            <a:gdLst/>
            <a:ahLst/>
            <a:cxnLst/>
            <a:rect r="r" b="b" t="t" l="l"/>
            <a:pathLst>
              <a:path h="8229600" w="6253850">
                <a:moveTo>
                  <a:pt x="0" y="0"/>
                </a:moveTo>
                <a:lnTo>
                  <a:pt x="6253850" y="0"/>
                </a:lnTo>
                <a:lnTo>
                  <a:pt x="6253850" y="8229600"/>
                </a:lnTo>
                <a:lnTo>
                  <a:pt x="0" y="8229600"/>
                </a:lnTo>
                <a:lnTo>
                  <a:pt x="0" y="0"/>
                </a:lnTo>
                <a:close/>
              </a:path>
            </a:pathLst>
          </a:custGeom>
          <a:blipFill>
            <a:blip r:embed="rId2"/>
            <a:stretch>
              <a:fillRect l="0" t="-7370" r="-17159" b="-11338"/>
            </a:stretch>
          </a:blipFill>
        </p:spPr>
      </p:sp>
      <p:sp>
        <p:nvSpPr>
          <p:cNvPr name="Freeform 8" id="8"/>
          <p:cNvSpPr/>
          <p:nvPr/>
        </p:nvSpPr>
        <p:spPr>
          <a:xfrm flipH="false" flipV="false" rot="0">
            <a:off x="11005450" y="3608161"/>
            <a:ext cx="4537452" cy="3902208"/>
          </a:xfrm>
          <a:custGeom>
            <a:avLst/>
            <a:gdLst/>
            <a:ahLst/>
            <a:cxnLst/>
            <a:rect r="r" b="b" t="t" l="l"/>
            <a:pathLst>
              <a:path h="3902208" w="4537452">
                <a:moveTo>
                  <a:pt x="0" y="0"/>
                </a:moveTo>
                <a:lnTo>
                  <a:pt x="4537451" y="0"/>
                </a:lnTo>
                <a:lnTo>
                  <a:pt x="4537451" y="3902208"/>
                </a:lnTo>
                <a:lnTo>
                  <a:pt x="0" y="39022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E4494"/>
        </a:solidFill>
      </p:bgPr>
    </p:bg>
    <p:spTree>
      <p:nvGrpSpPr>
        <p:cNvPr id="1" name=""/>
        <p:cNvGrpSpPr/>
        <p:nvPr/>
      </p:nvGrpSpPr>
      <p:grpSpPr>
        <a:xfrm>
          <a:off x="0" y="0"/>
          <a:ext cx="0" cy="0"/>
          <a:chOff x="0" y="0"/>
          <a:chExt cx="0" cy="0"/>
        </a:xfrm>
      </p:grpSpPr>
      <p:grpSp>
        <p:nvGrpSpPr>
          <p:cNvPr name="Group 2" id="2"/>
          <p:cNvGrpSpPr/>
          <p:nvPr/>
        </p:nvGrpSpPr>
        <p:grpSpPr>
          <a:xfrm rot="0">
            <a:off x="1028700" y="3053312"/>
            <a:ext cx="8115300" cy="4180376"/>
            <a:chOff x="0" y="0"/>
            <a:chExt cx="10820400" cy="5573834"/>
          </a:xfrm>
        </p:grpSpPr>
        <p:grpSp>
          <p:nvGrpSpPr>
            <p:cNvPr name="Group 3" id="3"/>
            <p:cNvGrpSpPr/>
            <p:nvPr/>
          </p:nvGrpSpPr>
          <p:grpSpPr>
            <a:xfrm rot="0">
              <a:off x="0" y="0"/>
              <a:ext cx="10820400" cy="5573834"/>
              <a:chOff x="0" y="0"/>
              <a:chExt cx="2463123" cy="1268811"/>
            </a:xfrm>
          </p:grpSpPr>
          <p:sp>
            <p:nvSpPr>
              <p:cNvPr name="Freeform 4" id="4"/>
              <p:cNvSpPr/>
              <p:nvPr/>
            </p:nvSpPr>
            <p:spPr>
              <a:xfrm flipH="false" flipV="false" rot="0">
                <a:off x="0" y="0"/>
                <a:ext cx="2463123" cy="1268811"/>
              </a:xfrm>
              <a:custGeom>
                <a:avLst/>
                <a:gdLst/>
                <a:ahLst/>
                <a:cxnLst/>
                <a:rect r="r" b="b" t="t" l="l"/>
                <a:pathLst>
                  <a:path h="1268811" w="2463123">
                    <a:moveTo>
                      <a:pt x="2338663" y="1268810"/>
                    </a:moveTo>
                    <a:lnTo>
                      <a:pt x="124460" y="1268810"/>
                    </a:lnTo>
                    <a:cubicBezTo>
                      <a:pt x="55880" y="1268810"/>
                      <a:pt x="0" y="1212931"/>
                      <a:pt x="0" y="1144350"/>
                    </a:cubicBezTo>
                    <a:lnTo>
                      <a:pt x="0" y="124460"/>
                    </a:lnTo>
                    <a:cubicBezTo>
                      <a:pt x="0" y="55880"/>
                      <a:pt x="55880" y="0"/>
                      <a:pt x="124460" y="0"/>
                    </a:cubicBezTo>
                    <a:lnTo>
                      <a:pt x="2338663" y="0"/>
                    </a:lnTo>
                    <a:cubicBezTo>
                      <a:pt x="2407243" y="0"/>
                      <a:pt x="2463123" y="55880"/>
                      <a:pt x="2463123" y="124460"/>
                    </a:cubicBezTo>
                    <a:lnTo>
                      <a:pt x="2463123" y="1144351"/>
                    </a:lnTo>
                    <a:cubicBezTo>
                      <a:pt x="2463123" y="1212931"/>
                      <a:pt x="2407243" y="1268811"/>
                      <a:pt x="2338663" y="1268811"/>
                    </a:cubicBezTo>
                    <a:close/>
                  </a:path>
                </a:pathLst>
              </a:custGeom>
              <a:solidFill>
                <a:srgbClr val="FFFFFF"/>
              </a:solidFill>
            </p:spPr>
          </p:sp>
        </p:grpSp>
        <p:sp>
          <p:nvSpPr>
            <p:cNvPr name="TextBox 5" id="5"/>
            <p:cNvSpPr txBox="true"/>
            <p:nvPr/>
          </p:nvSpPr>
          <p:spPr>
            <a:xfrm rot="0">
              <a:off x="1379125" y="1183310"/>
              <a:ext cx="8062150" cy="2151592"/>
            </a:xfrm>
            <a:prstGeom prst="rect">
              <a:avLst/>
            </a:prstGeom>
          </p:spPr>
          <p:txBody>
            <a:bodyPr anchor="t" rtlCol="false" tIns="0" lIns="0" bIns="0" rIns="0">
              <a:spAutoFit/>
            </a:bodyPr>
            <a:lstStyle/>
            <a:p>
              <a:pPr algn="l">
                <a:lnSpc>
                  <a:spcPts val="6324"/>
                </a:lnSpc>
              </a:pPr>
              <a:r>
                <a:rPr lang="en-US" sz="5499">
                  <a:solidFill>
                    <a:srgbClr val="CF6C58"/>
                  </a:solidFill>
                  <a:latin typeface="League Spartan"/>
                  <a:ea typeface="League Spartan"/>
                  <a:cs typeface="League Spartan"/>
                  <a:sym typeface="League Spartan"/>
                </a:rPr>
                <a:t>AWS Cloud Services</a:t>
              </a:r>
            </a:p>
          </p:txBody>
        </p:sp>
        <p:sp>
          <p:nvSpPr>
            <p:cNvPr name="TextBox 6" id="6"/>
            <p:cNvSpPr txBox="true"/>
            <p:nvPr/>
          </p:nvSpPr>
          <p:spPr>
            <a:xfrm rot="0">
              <a:off x="1379125" y="3732505"/>
              <a:ext cx="8062150" cy="686594"/>
            </a:xfrm>
            <a:prstGeom prst="rect">
              <a:avLst/>
            </a:prstGeom>
          </p:spPr>
          <p:txBody>
            <a:bodyPr anchor="t" rtlCol="false" tIns="0" lIns="0" bIns="0" rIns="0">
              <a:spAutoFit/>
            </a:bodyPr>
            <a:lstStyle/>
            <a:p>
              <a:pPr algn="l">
                <a:lnSpc>
                  <a:spcPts val="4479"/>
                </a:lnSpc>
              </a:pPr>
              <a:r>
                <a:rPr lang="en-US" sz="3199">
                  <a:solidFill>
                    <a:srgbClr val="000000"/>
                  </a:solidFill>
                  <a:latin typeface="Nunito"/>
                  <a:ea typeface="Nunito"/>
                  <a:cs typeface="Nunito"/>
                  <a:sym typeface="Nunito"/>
                </a:rPr>
                <a:t>for data processing and updates</a:t>
              </a:r>
            </a:p>
          </p:txBody>
        </p:sp>
      </p:grpSp>
      <p:grpSp>
        <p:nvGrpSpPr>
          <p:cNvPr name="Group 7" id="7"/>
          <p:cNvGrpSpPr/>
          <p:nvPr/>
        </p:nvGrpSpPr>
        <p:grpSpPr>
          <a:xfrm rot="0">
            <a:off x="14013249" y="1028700"/>
            <a:ext cx="3246051" cy="7412521"/>
            <a:chOff x="0" y="0"/>
            <a:chExt cx="937453" cy="2140722"/>
          </a:xfrm>
        </p:grpSpPr>
        <p:sp>
          <p:nvSpPr>
            <p:cNvPr name="Freeform 8" id="8"/>
            <p:cNvSpPr/>
            <p:nvPr/>
          </p:nvSpPr>
          <p:spPr>
            <a:xfrm flipH="false" flipV="false" rot="0">
              <a:off x="0" y="0"/>
              <a:ext cx="937453" cy="2140722"/>
            </a:xfrm>
            <a:custGeom>
              <a:avLst/>
              <a:gdLst/>
              <a:ahLst/>
              <a:cxnLst/>
              <a:rect r="r" b="b" t="t" l="l"/>
              <a:pathLst>
                <a:path h="2140722" w="937453">
                  <a:moveTo>
                    <a:pt x="812993" y="2140722"/>
                  </a:moveTo>
                  <a:lnTo>
                    <a:pt x="124460" y="2140722"/>
                  </a:lnTo>
                  <a:cubicBezTo>
                    <a:pt x="55880" y="2140722"/>
                    <a:pt x="0" y="2084842"/>
                    <a:pt x="0" y="2016262"/>
                  </a:cubicBezTo>
                  <a:lnTo>
                    <a:pt x="0" y="124460"/>
                  </a:lnTo>
                  <a:cubicBezTo>
                    <a:pt x="0" y="55880"/>
                    <a:pt x="55880" y="0"/>
                    <a:pt x="124460" y="0"/>
                  </a:cubicBezTo>
                  <a:lnTo>
                    <a:pt x="812993" y="0"/>
                  </a:lnTo>
                  <a:cubicBezTo>
                    <a:pt x="881573" y="0"/>
                    <a:pt x="937453" y="55880"/>
                    <a:pt x="937453" y="124460"/>
                  </a:cubicBezTo>
                  <a:lnTo>
                    <a:pt x="937453" y="2016262"/>
                  </a:lnTo>
                  <a:cubicBezTo>
                    <a:pt x="937453" y="2084842"/>
                    <a:pt x="881573" y="2140722"/>
                    <a:pt x="812993" y="2140722"/>
                  </a:cubicBezTo>
                  <a:close/>
                </a:path>
              </a:pathLst>
            </a:custGeom>
            <a:solidFill>
              <a:srgbClr val="196E63"/>
            </a:solidFill>
          </p:spPr>
        </p:sp>
      </p:grpSp>
      <p:sp>
        <p:nvSpPr>
          <p:cNvPr name="Freeform 9" id="9"/>
          <p:cNvSpPr/>
          <p:nvPr/>
        </p:nvSpPr>
        <p:spPr>
          <a:xfrm flipH="false" flipV="false" rot="0">
            <a:off x="15254119" y="7253119"/>
            <a:ext cx="2005181" cy="2005181"/>
          </a:xfrm>
          <a:custGeom>
            <a:avLst/>
            <a:gdLst/>
            <a:ahLst/>
            <a:cxnLst/>
            <a:rect r="r" b="b" t="t" l="l"/>
            <a:pathLst>
              <a:path h="2005181" w="2005181">
                <a:moveTo>
                  <a:pt x="0" y="0"/>
                </a:moveTo>
                <a:lnTo>
                  <a:pt x="2005181" y="0"/>
                </a:lnTo>
                <a:lnTo>
                  <a:pt x="2005181" y="2005181"/>
                </a:lnTo>
                <a:lnTo>
                  <a:pt x="0" y="2005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15923179" y="7887442"/>
            <a:ext cx="848132" cy="736536"/>
          </a:xfrm>
          <a:custGeom>
            <a:avLst/>
            <a:gdLst/>
            <a:ahLst/>
            <a:cxnLst/>
            <a:rect r="r" b="b" t="t" l="l"/>
            <a:pathLst>
              <a:path h="736536" w="848132">
                <a:moveTo>
                  <a:pt x="0" y="0"/>
                </a:moveTo>
                <a:lnTo>
                  <a:pt x="848132" y="0"/>
                </a:lnTo>
                <a:lnTo>
                  <a:pt x="848132" y="736536"/>
                </a:lnTo>
                <a:lnTo>
                  <a:pt x="0" y="7365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162505" y="2074660"/>
            <a:ext cx="6553008" cy="5320601"/>
          </a:xfrm>
          <a:custGeom>
            <a:avLst/>
            <a:gdLst/>
            <a:ahLst/>
            <a:cxnLst/>
            <a:rect r="r" b="b" t="t" l="l"/>
            <a:pathLst>
              <a:path h="5320601" w="6553008">
                <a:moveTo>
                  <a:pt x="0" y="0"/>
                </a:moveTo>
                <a:lnTo>
                  <a:pt x="6553008" y="0"/>
                </a:lnTo>
                <a:lnTo>
                  <a:pt x="6553008" y="5320601"/>
                </a:lnTo>
                <a:lnTo>
                  <a:pt x="0" y="5320601"/>
                </a:lnTo>
                <a:lnTo>
                  <a:pt x="0" y="0"/>
                </a:lnTo>
                <a:close/>
              </a:path>
            </a:pathLst>
          </a:custGeom>
          <a:blipFill>
            <a:blip r:embed="rId6"/>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96E63"/>
        </a:solidFill>
      </p:bgPr>
    </p:bg>
    <p:spTree>
      <p:nvGrpSpPr>
        <p:cNvPr id="1" name=""/>
        <p:cNvGrpSpPr/>
        <p:nvPr/>
      </p:nvGrpSpPr>
      <p:grpSpPr>
        <a:xfrm>
          <a:off x="0" y="0"/>
          <a:ext cx="0" cy="0"/>
          <a:chOff x="0" y="0"/>
          <a:chExt cx="0" cy="0"/>
        </a:xfrm>
      </p:grpSpPr>
      <p:grpSp>
        <p:nvGrpSpPr>
          <p:cNvPr name="Group 2" id="2"/>
          <p:cNvGrpSpPr/>
          <p:nvPr/>
        </p:nvGrpSpPr>
        <p:grpSpPr>
          <a:xfrm rot="0">
            <a:off x="1564199" y="862302"/>
            <a:ext cx="6686821" cy="6800886"/>
            <a:chOff x="0" y="0"/>
            <a:chExt cx="1826131" cy="1857282"/>
          </a:xfrm>
        </p:grpSpPr>
        <p:sp>
          <p:nvSpPr>
            <p:cNvPr name="Freeform 3" id="3"/>
            <p:cNvSpPr/>
            <p:nvPr/>
          </p:nvSpPr>
          <p:spPr>
            <a:xfrm flipH="false" flipV="false" rot="0">
              <a:off x="0" y="0"/>
              <a:ext cx="1826132" cy="1857282"/>
            </a:xfrm>
            <a:custGeom>
              <a:avLst/>
              <a:gdLst/>
              <a:ahLst/>
              <a:cxnLst/>
              <a:rect r="r" b="b" t="t" l="l"/>
              <a:pathLst>
                <a:path h="1857282" w="1826132">
                  <a:moveTo>
                    <a:pt x="1701671" y="1857282"/>
                  </a:moveTo>
                  <a:lnTo>
                    <a:pt x="124460" y="1857282"/>
                  </a:lnTo>
                  <a:cubicBezTo>
                    <a:pt x="55880" y="1857282"/>
                    <a:pt x="0" y="1801402"/>
                    <a:pt x="0" y="1732822"/>
                  </a:cubicBezTo>
                  <a:lnTo>
                    <a:pt x="0" y="124460"/>
                  </a:lnTo>
                  <a:cubicBezTo>
                    <a:pt x="0" y="55880"/>
                    <a:pt x="55880" y="0"/>
                    <a:pt x="124460" y="0"/>
                  </a:cubicBezTo>
                  <a:lnTo>
                    <a:pt x="1701672" y="0"/>
                  </a:lnTo>
                  <a:cubicBezTo>
                    <a:pt x="1770251" y="0"/>
                    <a:pt x="1826132" y="55880"/>
                    <a:pt x="1826132" y="124460"/>
                  </a:cubicBezTo>
                  <a:lnTo>
                    <a:pt x="1826132" y="1732822"/>
                  </a:lnTo>
                  <a:cubicBezTo>
                    <a:pt x="1826132" y="1801402"/>
                    <a:pt x="1770251" y="1857282"/>
                    <a:pt x="1701672" y="1857282"/>
                  </a:cubicBezTo>
                  <a:close/>
                </a:path>
              </a:pathLst>
            </a:custGeom>
            <a:solidFill>
              <a:srgbClr val="FFFFFF"/>
            </a:solidFill>
          </p:spPr>
        </p:sp>
      </p:grpSp>
      <p:grpSp>
        <p:nvGrpSpPr>
          <p:cNvPr name="Group 4" id="4"/>
          <p:cNvGrpSpPr/>
          <p:nvPr/>
        </p:nvGrpSpPr>
        <p:grpSpPr>
          <a:xfrm rot="0">
            <a:off x="1564199" y="6840285"/>
            <a:ext cx="5824435" cy="2429401"/>
            <a:chOff x="0" y="0"/>
            <a:chExt cx="1590619" cy="663455"/>
          </a:xfrm>
        </p:grpSpPr>
        <p:sp>
          <p:nvSpPr>
            <p:cNvPr name="Freeform 5" id="5"/>
            <p:cNvSpPr/>
            <p:nvPr/>
          </p:nvSpPr>
          <p:spPr>
            <a:xfrm flipH="false" flipV="false" rot="0">
              <a:off x="0" y="0"/>
              <a:ext cx="1590619" cy="663455"/>
            </a:xfrm>
            <a:custGeom>
              <a:avLst/>
              <a:gdLst/>
              <a:ahLst/>
              <a:cxnLst/>
              <a:rect r="r" b="b" t="t" l="l"/>
              <a:pathLst>
                <a:path h="663455" w="1590619">
                  <a:moveTo>
                    <a:pt x="1466159" y="663455"/>
                  </a:moveTo>
                  <a:lnTo>
                    <a:pt x="124460" y="663455"/>
                  </a:lnTo>
                  <a:cubicBezTo>
                    <a:pt x="55880" y="663455"/>
                    <a:pt x="0" y="607575"/>
                    <a:pt x="0" y="538995"/>
                  </a:cubicBezTo>
                  <a:lnTo>
                    <a:pt x="0" y="124460"/>
                  </a:lnTo>
                  <a:cubicBezTo>
                    <a:pt x="0" y="55880"/>
                    <a:pt x="55880" y="0"/>
                    <a:pt x="124460" y="0"/>
                  </a:cubicBezTo>
                  <a:lnTo>
                    <a:pt x="1466159" y="0"/>
                  </a:lnTo>
                  <a:cubicBezTo>
                    <a:pt x="1534739" y="0"/>
                    <a:pt x="1590619" y="55880"/>
                    <a:pt x="1590619" y="124460"/>
                  </a:cubicBezTo>
                  <a:lnTo>
                    <a:pt x="1590619" y="538995"/>
                  </a:lnTo>
                  <a:cubicBezTo>
                    <a:pt x="1590619" y="607575"/>
                    <a:pt x="1534739" y="663455"/>
                    <a:pt x="1466159" y="663455"/>
                  </a:cubicBezTo>
                  <a:close/>
                </a:path>
              </a:pathLst>
            </a:custGeom>
            <a:solidFill>
              <a:srgbClr val="2E4494"/>
            </a:solidFill>
          </p:spPr>
        </p:sp>
      </p:grpSp>
      <p:sp>
        <p:nvSpPr>
          <p:cNvPr name="Freeform 6" id="6"/>
          <p:cNvSpPr/>
          <p:nvPr/>
        </p:nvSpPr>
        <p:spPr>
          <a:xfrm flipH="true" flipV="false" rot="-10800000">
            <a:off x="4983049" y="6111922"/>
            <a:ext cx="3312776" cy="3312776"/>
          </a:xfrm>
          <a:custGeom>
            <a:avLst/>
            <a:gdLst/>
            <a:ahLst/>
            <a:cxnLst/>
            <a:rect r="r" b="b" t="t" l="l"/>
            <a:pathLst>
              <a:path h="3312776" w="3312776">
                <a:moveTo>
                  <a:pt x="3312776" y="0"/>
                </a:moveTo>
                <a:lnTo>
                  <a:pt x="0" y="0"/>
                </a:lnTo>
                <a:lnTo>
                  <a:pt x="0" y="3312776"/>
                </a:lnTo>
                <a:lnTo>
                  <a:pt x="3312776" y="3312776"/>
                </a:lnTo>
                <a:lnTo>
                  <a:pt x="331277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564199" y="6840285"/>
            <a:ext cx="1282483" cy="1282483"/>
            <a:chOff x="0" y="0"/>
            <a:chExt cx="1913890" cy="1913890"/>
          </a:xfrm>
        </p:grpSpPr>
        <p:sp>
          <p:nvSpPr>
            <p:cNvPr name="Freeform 8" id="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2E4494"/>
            </a:solidFill>
          </p:spPr>
        </p:sp>
      </p:grpSp>
      <p:grpSp>
        <p:nvGrpSpPr>
          <p:cNvPr name="Group 9" id="9"/>
          <p:cNvGrpSpPr/>
          <p:nvPr/>
        </p:nvGrpSpPr>
        <p:grpSpPr>
          <a:xfrm rot="0">
            <a:off x="9616441" y="1893472"/>
            <a:ext cx="6463329" cy="4946813"/>
            <a:chOff x="0" y="0"/>
            <a:chExt cx="8617773" cy="6595750"/>
          </a:xfrm>
        </p:grpSpPr>
        <p:sp>
          <p:nvSpPr>
            <p:cNvPr name="TextBox 10" id="10"/>
            <p:cNvSpPr txBox="true"/>
            <p:nvPr/>
          </p:nvSpPr>
          <p:spPr>
            <a:xfrm rot="0">
              <a:off x="0" y="-47625"/>
              <a:ext cx="8617773" cy="961736"/>
            </a:xfrm>
            <a:prstGeom prst="rect">
              <a:avLst/>
            </a:prstGeom>
          </p:spPr>
          <p:txBody>
            <a:bodyPr anchor="t" rtlCol="false" tIns="0" lIns="0" bIns="0" rIns="0">
              <a:spAutoFit/>
            </a:bodyPr>
            <a:lstStyle/>
            <a:p>
              <a:pPr algn="l">
                <a:lnSpc>
                  <a:spcPts val="5850"/>
                </a:lnSpc>
              </a:pPr>
              <a:r>
                <a:rPr lang="en-US" sz="4500">
                  <a:solidFill>
                    <a:srgbClr val="FFFFFF"/>
                  </a:solidFill>
                  <a:latin typeface="League Spartan"/>
                  <a:ea typeface="League Spartan"/>
                  <a:cs typeface="League Spartan"/>
                  <a:sym typeface="League Spartan"/>
                </a:rPr>
                <a:t>Washer Status</a:t>
              </a:r>
            </a:p>
          </p:txBody>
        </p:sp>
        <p:sp>
          <p:nvSpPr>
            <p:cNvPr name="TextBox 11" id="11"/>
            <p:cNvSpPr txBox="true"/>
            <p:nvPr/>
          </p:nvSpPr>
          <p:spPr>
            <a:xfrm rot="0">
              <a:off x="0" y="1152837"/>
              <a:ext cx="8617773" cy="1447377"/>
            </a:xfrm>
            <a:prstGeom prst="rect">
              <a:avLst/>
            </a:prstGeom>
          </p:spPr>
          <p:txBody>
            <a:bodyPr anchor="t" rtlCol="false" tIns="0" lIns="0" bIns="0" rIns="0">
              <a:spAutoFit/>
            </a:bodyPr>
            <a:lstStyle/>
            <a:p>
              <a:pPr algn="l">
                <a:lnSpc>
                  <a:spcPts val="4479"/>
                </a:lnSpc>
              </a:pPr>
              <a:r>
                <a:rPr lang="en-US" sz="3199">
                  <a:solidFill>
                    <a:srgbClr val="FFFFFF"/>
                  </a:solidFill>
                  <a:latin typeface="Nunito"/>
                  <a:ea typeface="Nunito"/>
                  <a:cs typeface="Nunito"/>
                  <a:sym typeface="Nunito"/>
                </a:rPr>
                <a:t>Determine if the washer is spinning!</a:t>
              </a:r>
            </a:p>
          </p:txBody>
        </p:sp>
        <p:sp>
          <p:nvSpPr>
            <p:cNvPr name="TextBox 12" id="12"/>
            <p:cNvSpPr txBox="true"/>
            <p:nvPr/>
          </p:nvSpPr>
          <p:spPr>
            <a:xfrm rot="0">
              <a:off x="0" y="4042738"/>
              <a:ext cx="8617773" cy="961736"/>
            </a:xfrm>
            <a:prstGeom prst="rect">
              <a:avLst/>
            </a:prstGeom>
          </p:spPr>
          <p:txBody>
            <a:bodyPr anchor="t" rtlCol="false" tIns="0" lIns="0" bIns="0" rIns="0">
              <a:spAutoFit/>
            </a:bodyPr>
            <a:lstStyle/>
            <a:p>
              <a:pPr algn="l">
                <a:lnSpc>
                  <a:spcPts val="5850"/>
                </a:lnSpc>
              </a:pPr>
              <a:r>
                <a:rPr lang="en-US" sz="4500">
                  <a:solidFill>
                    <a:srgbClr val="FFFFFF"/>
                  </a:solidFill>
                  <a:latin typeface="League Spartan"/>
                  <a:ea typeface="League Spartan"/>
                  <a:cs typeface="League Spartan"/>
                  <a:sym typeface="League Spartan"/>
                </a:rPr>
                <a:t>Dryer Status</a:t>
              </a:r>
            </a:p>
          </p:txBody>
        </p:sp>
        <p:sp>
          <p:nvSpPr>
            <p:cNvPr name="TextBox 13" id="13"/>
            <p:cNvSpPr txBox="true"/>
            <p:nvPr/>
          </p:nvSpPr>
          <p:spPr>
            <a:xfrm rot="0">
              <a:off x="0" y="5252725"/>
              <a:ext cx="8617773" cy="1343025"/>
            </a:xfrm>
            <a:prstGeom prst="rect">
              <a:avLst/>
            </a:prstGeom>
          </p:spPr>
          <p:txBody>
            <a:bodyPr anchor="t" rtlCol="false" tIns="0" lIns="0" bIns="0" rIns="0">
              <a:spAutoFit/>
            </a:bodyPr>
            <a:lstStyle/>
            <a:p>
              <a:pPr algn="l">
                <a:lnSpc>
                  <a:spcPts val="4199"/>
                </a:lnSpc>
              </a:pPr>
              <a:r>
                <a:rPr lang="en-US" sz="2999">
                  <a:solidFill>
                    <a:srgbClr val="FFFFFF"/>
                  </a:solidFill>
                  <a:latin typeface="Nunito"/>
                  <a:ea typeface="Nunito"/>
                  <a:cs typeface="Nunito"/>
                  <a:sym typeface="Nunito"/>
                </a:rPr>
                <a:t>Determine if the dryer is drying clothes.</a:t>
              </a:r>
            </a:p>
          </p:txBody>
        </p:sp>
      </p:grpSp>
      <p:sp>
        <p:nvSpPr>
          <p:cNvPr name="TextBox 14" id="14"/>
          <p:cNvSpPr txBox="true"/>
          <p:nvPr/>
        </p:nvSpPr>
        <p:spPr>
          <a:xfrm rot="0">
            <a:off x="2131690" y="1871300"/>
            <a:ext cx="4689452" cy="2834490"/>
          </a:xfrm>
          <a:prstGeom prst="rect">
            <a:avLst/>
          </a:prstGeom>
        </p:spPr>
        <p:txBody>
          <a:bodyPr anchor="t" rtlCol="false" tIns="0" lIns="0" bIns="0" rIns="0">
            <a:spAutoFit/>
          </a:bodyPr>
          <a:lstStyle/>
          <a:p>
            <a:pPr algn="l">
              <a:lnSpc>
                <a:spcPts val="7475"/>
              </a:lnSpc>
            </a:pPr>
            <a:r>
              <a:rPr lang="en-US" sz="6500">
                <a:solidFill>
                  <a:srgbClr val="2E4494"/>
                </a:solidFill>
                <a:latin typeface="League Spartan"/>
                <a:ea typeface="League Spartan"/>
                <a:cs typeface="League Spartan"/>
                <a:sym typeface="League Spartan"/>
              </a:rPr>
              <a:t>Machine Learning - </a:t>
            </a:r>
          </a:p>
          <a:p>
            <a:pPr algn="l">
              <a:lnSpc>
                <a:spcPts val="7475"/>
              </a:lnSpc>
            </a:pPr>
            <a:r>
              <a:rPr lang="en-US" sz="6500">
                <a:solidFill>
                  <a:srgbClr val="2E4494"/>
                </a:solidFill>
                <a:latin typeface="League Spartan"/>
                <a:ea typeface="League Spartan"/>
                <a:cs typeface="League Spartan"/>
                <a:sym typeface="League Spartan"/>
              </a:rPr>
              <a:t>Sensors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96E63"/>
        </a:solidFill>
      </p:bgPr>
    </p:bg>
    <p:spTree>
      <p:nvGrpSpPr>
        <p:cNvPr id="1" name=""/>
        <p:cNvGrpSpPr/>
        <p:nvPr/>
      </p:nvGrpSpPr>
      <p:grpSpPr>
        <a:xfrm>
          <a:off x="0" y="0"/>
          <a:ext cx="0" cy="0"/>
          <a:chOff x="0" y="0"/>
          <a:chExt cx="0" cy="0"/>
        </a:xfrm>
      </p:grpSpPr>
      <p:grpSp>
        <p:nvGrpSpPr>
          <p:cNvPr name="Group 2" id="2"/>
          <p:cNvGrpSpPr/>
          <p:nvPr/>
        </p:nvGrpSpPr>
        <p:grpSpPr>
          <a:xfrm rot="0">
            <a:off x="1564199" y="862302"/>
            <a:ext cx="6686821" cy="6800886"/>
            <a:chOff x="0" y="0"/>
            <a:chExt cx="1826131" cy="1857282"/>
          </a:xfrm>
        </p:grpSpPr>
        <p:sp>
          <p:nvSpPr>
            <p:cNvPr name="Freeform 3" id="3"/>
            <p:cNvSpPr/>
            <p:nvPr/>
          </p:nvSpPr>
          <p:spPr>
            <a:xfrm flipH="false" flipV="false" rot="0">
              <a:off x="0" y="0"/>
              <a:ext cx="1826132" cy="1857282"/>
            </a:xfrm>
            <a:custGeom>
              <a:avLst/>
              <a:gdLst/>
              <a:ahLst/>
              <a:cxnLst/>
              <a:rect r="r" b="b" t="t" l="l"/>
              <a:pathLst>
                <a:path h="1857282" w="1826132">
                  <a:moveTo>
                    <a:pt x="1701671" y="1857282"/>
                  </a:moveTo>
                  <a:lnTo>
                    <a:pt x="124460" y="1857282"/>
                  </a:lnTo>
                  <a:cubicBezTo>
                    <a:pt x="55880" y="1857282"/>
                    <a:pt x="0" y="1801402"/>
                    <a:pt x="0" y="1732822"/>
                  </a:cubicBezTo>
                  <a:lnTo>
                    <a:pt x="0" y="124460"/>
                  </a:lnTo>
                  <a:cubicBezTo>
                    <a:pt x="0" y="55880"/>
                    <a:pt x="55880" y="0"/>
                    <a:pt x="124460" y="0"/>
                  </a:cubicBezTo>
                  <a:lnTo>
                    <a:pt x="1701672" y="0"/>
                  </a:lnTo>
                  <a:cubicBezTo>
                    <a:pt x="1770251" y="0"/>
                    <a:pt x="1826132" y="55880"/>
                    <a:pt x="1826132" y="124460"/>
                  </a:cubicBezTo>
                  <a:lnTo>
                    <a:pt x="1826132" y="1732822"/>
                  </a:lnTo>
                  <a:cubicBezTo>
                    <a:pt x="1826132" y="1801402"/>
                    <a:pt x="1770251" y="1857282"/>
                    <a:pt x="1701672" y="1857282"/>
                  </a:cubicBezTo>
                  <a:close/>
                </a:path>
              </a:pathLst>
            </a:custGeom>
            <a:solidFill>
              <a:srgbClr val="FFFFFF"/>
            </a:solidFill>
          </p:spPr>
        </p:sp>
      </p:grpSp>
      <p:grpSp>
        <p:nvGrpSpPr>
          <p:cNvPr name="Group 4" id="4"/>
          <p:cNvGrpSpPr/>
          <p:nvPr/>
        </p:nvGrpSpPr>
        <p:grpSpPr>
          <a:xfrm rot="0">
            <a:off x="1564199" y="6840285"/>
            <a:ext cx="5824435" cy="2429401"/>
            <a:chOff x="0" y="0"/>
            <a:chExt cx="1590619" cy="663455"/>
          </a:xfrm>
        </p:grpSpPr>
        <p:sp>
          <p:nvSpPr>
            <p:cNvPr name="Freeform 5" id="5"/>
            <p:cNvSpPr/>
            <p:nvPr/>
          </p:nvSpPr>
          <p:spPr>
            <a:xfrm flipH="false" flipV="false" rot="0">
              <a:off x="0" y="0"/>
              <a:ext cx="1590619" cy="663455"/>
            </a:xfrm>
            <a:custGeom>
              <a:avLst/>
              <a:gdLst/>
              <a:ahLst/>
              <a:cxnLst/>
              <a:rect r="r" b="b" t="t" l="l"/>
              <a:pathLst>
                <a:path h="663455" w="1590619">
                  <a:moveTo>
                    <a:pt x="1466159" y="663455"/>
                  </a:moveTo>
                  <a:lnTo>
                    <a:pt x="124460" y="663455"/>
                  </a:lnTo>
                  <a:cubicBezTo>
                    <a:pt x="55880" y="663455"/>
                    <a:pt x="0" y="607575"/>
                    <a:pt x="0" y="538995"/>
                  </a:cubicBezTo>
                  <a:lnTo>
                    <a:pt x="0" y="124460"/>
                  </a:lnTo>
                  <a:cubicBezTo>
                    <a:pt x="0" y="55880"/>
                    <a:pt x="55880" y="0"/>
                    <a:pt x="124460" y="0"/>
                  </a:cubicBezTo>
                  <a:lnTo>
                    <a:pt x="1466159" y="0"/>
                  </a:lnTo>
                  <a:cubicBezTo>
                    <a:pt x="1534739" y="0"/>
                    <a:pt x="1590619" y="55880"/>
                    <a:pt x="1590619" y="124460"/>
                  </a:cubicBezTo>
                  <a:lnTo>
                    <a:pt x="1590619" y="538995"/>
                  </a:lnTo>
                  <a:cubicBezTo>
                    <a:pt x="1590619" y="607575"/>
                    <a:pt x="1534739" y="663455"/>
                    <a:pt x="1466159" y="663455"/>
                  </a:cubicBezTo>
                  <a:close/>
                </a:path>
              </a:pathLst>
            </a:custGeom>
            <a:solidFill>
              <a:srgbClr val="2E4494"/>
            </a:solidFill>
          </p:spPr>
        </p:sp>
      </p:grpSp>
      <p:sp>
        <p:nvSpPr>
          <p:cNvPr name="Freeform 6" id="6"/>
          <p:cNvSpPr/>
          <p:nvPr/>
        </p:nvSpPr>
        <p:spPr>
          <a:xfrm flipH="true" flipV="false" rot="-10800000">
            <a:off x="4983049" y="6111922"/>
            <a:ext cx="3312776" cy="3312776"/>
          </a:xfrm>
          <a:custGeom>
            <a:avLst/>
            <a:gdLst/>
            <a:ahLst/>
            <a:cxnLst/>
            <a:rect r="r" b="b" t="t" l="l"/>
            <a:pathLst>
              <a:path h="3312776" w="3312776">
                <a:moveTo>
                  <a:pt x="3312776" y="0"/>
                </a:moveTo>
                <a:lnTo>
                  <a:pt x="0" y="0"/>
                </a:lnTo>
                <a:lnTo>
                  <a:pt x="0" y="3312776"/>
                </a:lnTo>
                <a:lnTo>
                  <a:pt x="3312776" y="3312776"/>
                </a:lnTo>
                <a:lnTo>
                  <a:pt x="331277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564199" y="6840285"/>
            <a:ext cx="1282483" cy="1282483"/>
            <a:chOff x="0" y="0"/>
            <a:chExt cx="1913890" cy="1913890"/>
          </a:xfrm>
        </p:grpSpPr>
        <p:sp>
          <p:nvSpPr>
            <p:cNvPr name="Freeform 8" id="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2E4494"/>
            </a:solidFill>
          </p:spPr>
        </p:sp>
      </p:grpSp>
      <p:grpSp>
        <p:nvGrpSpPr>
          <p:cNvPr name="Group 9" id="9"/>
          <p:cNvGrpSpPr/>
          <p:nvPr/>
        </p:nvGrpSpPr>
        <p:grpSpPr>
          <a:xfrm rot="0">
            <a:off x="9616441" y="1893472"/>
            <a:ext cx="6463329" cy="4946813"/>
            <a:chOff x="0" y="0"/>
            <a:chExt cx="8617773" cy="6595750"/>
          </a:xfrm>
        </p:grpSpPr>
        <p:sp>
          <p:nvSpPr>
            <p:cNvPr name="TextBox 10" id="10"/>
            <p:cNvSpPr txBox="true"/>
            <p:nvPr/>
          </p:nvSpPr>
          <p:spPr>
            <a:xfrm rot="0">
              <a:off x="0" y="-47625"/>
              <a:ext cx="8617773" cy="961736"/>
            </a:xfrm>
            <a:prstGeom prst="rect">
              <a:avLst/>
            </a:prstGeom>
          </p:spPr>
          <p:txBody>
            <a:bodyPr anchor="t" rtlCol="false" tIns="0" lIns="0" bIns="0" rIns="0">
              <a:spAutoFit/>
            </a:bodyPr>
            <a:lstStyle/>
            <a:p>
              <a:pPr algn="l">
                <a:lnSpc>
                  <a:spcPts val="5850"/>
                </a:lnSpc>
              </a:pPr>
              <a:r>
                <a:rPr lang="en-US" sz="4500">
                  <a:solidFill>
                    <a:srgbClr val="FFFFFF"/>
                  </a:solidFill>
                  <a:latin typeface="League Spartan"/>
                  <a:ea typeface="League Spartan"/>
                  <a:cs typeface="League Spartan"/>
                  <a:sym typeface="League Spartan"/>
                </a:rPr>
                <a:t>Washer Status</a:t>
              </a:r>
            </a:p>
          </p:txBody>
        </p:sp>
        <p:sp>
          <p:nvSpPr>
            <p:cNvPr name="TextBox 11" id="11"/>
            <p:cNvSpPr txBox="true"/>
            <p:nvPr/>
          </p:nvSpPr>
          <p:spPr>
            <a:xfrm rot="0">
              <a:off x="0" y="1152837"/>
              <a:ext cx="8617773" cy="1447377"/>
            </a:xfrm>
            <a:prstGeom prst="rect">
              <a:avLst/>
            </a:prstGeom>
          </p:spPr>
          <p:txBody>
            <a:bodyPr anchor="t" rtlCol="false" tIns="0" lIns="0" bIns="0" rIns="0">
              <a:spAutoFit/>
            </a:bodyPr>
            <a:lstStyle/>
            <a:p>
              <a:pPr algn="l">
                <a:lnSpc>
                  <a:spcPts val="4479"/>
                </a:lnSpc>
              </a:pPr>
              <a:r>
                <a:rPr lang="en-US" sz="3199">
                  <a:solidFill>
                    <a:srgbClr val="FFFFFF"/>
                  </a:solidFill>
                  <a:latin typeface="Nunito"/>
                  <a:ea typeface="Nunito"/>
                  <a:cs typeface="Nunito"/>
                  <a:sym typeface="Nunito"/>
                </a:rPr>
                <a:t>Determine if someone put/ take out clothes from the washer.</a:t>
              </a:r>
            </a:p>
          </p:txBody>
        </p:sp>
        <p:sp>
          <p:nvSpPr>
            <p:cNvPr name="TextBox 12" id="12"/>
            <p:cNvSpPr txBox="true"/>
            <p:nvPr/>
          </p:nvSpPr>
          <p:spPr>
            <a:xfrm rot="0">
              <a:off x="0" y="4042738"/>
              <a:ext cx="8617773" cy="961736"/>
            </a:xfrm>
            <a:prstGeom prst="rect">
              <a:avLst/>
            </a:prstGeom>
          </p:spPr>
          <p:txBody>
            <a:bodyPr anchor="t" rtlCol="false" tIns="0" lIns="0" bIns="0" rIns="0">
              <a:spAutoFit/>
            </a:bodyPr>
            <a:lstStyle/>
            <a:p>
              <a:pPr algn="l">
                <a:lnSpc>
                  <a:spcPts val="5850"/>
                </a:lnSpc>
              </a:pPr>
              <a:r>
                <a:rPr lang="en-US" sz="4500">
                  <a:solidFill>
                    <a:srgbClr val="FFFFFF"/>
                  </a:solidFill>
                  <a:latin typeface="League Spartan"/>
                  <a:ea typeface="League Spartan"/>
                  <a:cs typeface="League Spartan"/>
                  <a:sym typeface="League Spartan"/>
                </a:rPr>
                <a:t>Dryer Status</a:t>
              </a:r>
            </a:p>
          </p:txBody>
        </p:sp>
        <p:sp>
          <p:nvSpPr>
            <p:cNvPr name="TextBox 13" id="13"/>
            <p:cNvSpPr txBox="true"/>
            <p:nvPr/>
          </p:nvSpPr>
          <p:spPr>
            <a:xfrm rot="0">
              <a:off x="0" y="5252725"/>
              <a:ext cx="8617773" cy="1343025"/>
            </a:xfrm>
            <a:prstGeom prst="rect">
              <a:avLst/>
            </a:prstGeom>
          </p:spPr>
          <p:txBody>
            <a:bodyPr anchor="t" rtlCol="false" tIns="0" lIns="0" bIns="0" rIns="0">
              <a:spAutoFit/>
            </a:bodyPr>
            <a:lstStyle/>
            <a:p>
              <a:pPr algn="l">
                <a:lnSpc>
                  <a:spcPts val="4199"/>
                </a:lnSpc>
              </a:pPr>
              <a:r>
                <a:rPr lang="en-US" sz="2999">
                  <a:solidFill>
                    <a:srgbClr val="FFFFFF"/>
                  </a:solidFill>
                  <a:latin typeface="Nunito"/>
                  <a:ea typeface="Nunito"/>
                  <a:cs typeface="Nunito"/>
                  <a:sym typeface="Nunito"/>
                </a:rPr>
                <a:t>Determine if someone put/ take out clothes from the dryer.</a:t>
              </a:r>
            </a:p>
          </p:txBody>
        </p:sp>
      </p:grpSp>
      <p:sp>
        <p:nvSpPr>
          <p:cNvPr name="TextBox 14" id="14"/>
          <p:cNvSpPr txBox="true"/>
          <p:nvPr/>
        </p:nvSpPr>
        <p:spPr>
          <a:xfrm rot="0">
            <a:off x="2131690" y="1871300"/>
            <a:ext cx="4689452" cy="2834490"/>
          </a:xfrm>
          <a:prstGeom prst="rect">
            <a:avLst/>
          </a:prstGeom>
        </p:spPr>
        <p:txBody>
          <a:bodyPr anchor="t" rtlCol="false" tIns="0" lIns="0" bIns="0" rIns="0">
            <a:spAutoFit/>
          </a:bodyPr>
          <a:lstStyle/>
          <a:p>
            <a:pPr algn="l">
              <a:lnSpc>
                <a:spcPts val="7475"/>
              </a:lnSpc>
            </a:pPr>
            <a:r>
              <a:rPr lang="en-US" sz="6500">
                <a:solidFill>
                  <a:srgbClr val="2E4494"/>
                </a:solidFill>
                <a:latin typeface="League Spartan"/>
                <a:ea typeface="League Spartan"/>
                <a:cs typeface="League Spartan"/>
                <a:sym typeface="League Spartan"/>
              </a:rPr>
              <a:t>Machine Learning - </a:t>
            </a:r>
          </a:p>
          <a:p>
            <a:pPr algn="l">
              <a:lnSpc>
                <a:spcPts val="7475"/>
              </a:lnSpc>
            </a:pPr>
            <a:r>
              <a:rPr lang="en-US" sz="6500">
                <a:solidFill>
                  <a:srgbClr val="2E4494"/>
                </a:solidFill>
                <a:latin typeface="League Spartan"/>
                <a:ea typeface="League Spartan"/>
                <a:cs typeface="League Spartan"/>
                <a:sym typeface="League Spartan"/>
              </a:rPr>
              <a:t>Camera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CBC9E"/>
        </a:solidFill>
      </p:bgPr>
    </p:bg>
    <p:spTree>
      <p:nvGrpSpPr>
        <p:cNvPr id="1" name=""/>
        <p:cNvGrpSpPr/>
        <p:nvPr/>
      </p:nvGrpSpPr>
      <p:grpSpPr>
        <a:xfrm>
          <a:off x="0" y="0"/>
          <a:ext cx="0" cy="0"/>
          <a:chOff x="0" y="0"/>
          <a:chExt cx="0" cy="0"/>
        </a:xfrm>
      </p:grpSpPr>
      <p:grpSp>
        <p:nvGrpSpPr>
          <p:cNvPr name="Group 2" id="2"/>
          <p:cNvGrpSpPr/>
          <p:nvPr/>
        </p:nvGrpSpPr>
        <p:grpSpPr>
          <a:xfrm rot="0">
            <a:off x="1028700" y="3053312"/>
            <a:ext cx="8115300" cy="4180376"/>
            <a:chOff x="0" y="0"/>
            <a:chExt cx="10820400" cy="5573834"/>
          </a:xfrm>
        </p:grpSpPr>
        <p:grpSp>
          <p:nvGrpSpPr>
            <p:cNvPr name="Group 3" id="3"/>
            <p:cNvGrpSpPr/>
            <p:nvPr/>
          </p:nvGrpSpPr>
          <p:grpSpPr>
            <a:xfrm rot="0">
              <a:off x="0" y="0"/>
              <a:ext cx="10820400" cy="5573834"/>
              <a:chOff x="0" y="0"/>
              <a:chExt cx="2463123" cy="1268811"/>
            </a:xfrm>
          </p:grpSpPr>
          <p:sp>
            <p:nvSpPr>
              <p:cNvPr name="Freeform 4" id="4"/>
              <p:cNvSpPr/>
              <p:nvPr/>
            </p:nvSpPr>
            <p:spPr>
              <a:xfrm flipH="false" flipV="false" rot="0">
                <a:off x="0" y="0"/>
                <a:ext cx="2463123" cy="1268811"/>
              </a:xfrm>
              <a:custGeom>
                <a:avLst/>
                <a:gdLst/>
                <a:ahLst/>
                <a:cxnLst/>
                <a:rect r="r" b="b" t="t" l="l"/>
                <a:pathLst>
                  <a:path h="1268811" w="2463123">
                    <a:moveTo>
                      <a:pt x="2338663" y="1268810"/>
                    </a:moveTo>
                    <a:lnTo>
                      <a:pt x="124460" y="1268810"/>
                    </a:lnTo>
                    <a:cubicBezTo>
                      <a:pt x="55880" y="1268810"/>
                      <a:pt x="0" y="1212931"/>
                      <a:pt x="0" y="1144350"/>
                    </a:cubicBezTo>
                    <a:lnTo>
                      <a:pt x="0" y="124460"/>
                    </a:lnTo>
                    <a:cubicBezTo>
                      <a:pt x="0" y="55880"/>
                      <a:pt x="55880" y="0"/>
                      <a:pt x="124460" y="0"/>
                    </a:cubicBezTo>
                    <a:lnTo>
                      <a:pt x="2338663" y="0"/>
                    </a:lnTo>
                    <a:cubicBezTo>
                      <a:pt x="2407243" y="0"/>
                      <a:pt x="2463123" y="55880"/>
                      <a:pt x="2463123" y="124460"/>
                    </a:cubicBezTo>
                    <a:lnTo>
                      <a:pt x="2463123" y="1144351"/>
                    </a:lnTo>
                    <a:cubicBezTo>
                      <a:pt x="2463123" y="1212931"/>
                      <a:pt x="2407243" y="1268811"/>
                      <a:pt x="2338663" y="1268811"/>
                    </a:cubicBezTo>
                    <a:close/>
                  </a:path>
                </a:pathLst>
              </a:custGeom>
              <a:solidFill>
                <a:srgbClr val="FFFFFF"/>
              </a:solidFill>
            </p:spPr>
          </p:sp>
        </p:grpSp>
        <p:sp>
          <p:nvSpPr>
            <p:cNvPr name="TextBox 5" id="5"/>
            <p:cNvSpPr txBox="true"/>
            <p:nvPr/>
          </p:nvSpPr>
          <p:spPr>
            <a:xfrm rot="0">
              <a:off x="1379125" y="1183310"/>
              <a:ext cx="8062150" cy="2151592"/>
            </a:xfrm>
            <a:prstGeom prst="rect">
              <a:avLst/>
            </a:prstGeom>
          </p:spPr>
          <p:txBody>
            <a:bodyPr anchor="t" rtlCol="false" tIns="0" lIns="0" bIns="0" rIns="0">
              <a:spAutoFit/>
            </a:bodyPr>
            <a:lstStyle/>
            <a:p>
              <a:pPr algn="l">
                <a:lnSpc>
                  <a:spcPts val="6324"/>
                </a:lnSpc>
              </a:pPr>
              <a:r>
                <a:rPr lang="en-US" sz="5499">
                  <a:solidFill>
                    <a:srgbClr val="CF6C58"/>
                  </a:solidFill>
                  <a:latin typeface="League Spartan"/>
                  <a:ea typeface="League Spartan"/>
                  <a:cs typeface="League Spartan"/>
                  <a:sym typeface="League Spartan"/>
                </a:rPr>
                <a:t>Vercel Web App (Gateway) </a:t>
              </a:r>
            </a:p>
          </p:txBody>
        </p:sp>
        <p:sp>
          <p:nvSpPr>
            <p:cNvPr name="TextBox 6" id="6"/>
            <p:cNvSpPr txBox="true"/>
            <p:nvPr/>
          </p:nvSpPr>
          <p:spPr>
            <a:xfrm rot="0">
              <a:off x="1379125" y="3732505"/>
              <a:ext cx="8062150" cy="686594"/>
            </a:xfrm>
            <a:prstGeom prst="rect">
              <a:avLst/>
            </a:prstGeom>
          </p:spPr>
          <p:txBody>
            <a:bodyPr anchor="t" rtlCol="false" tIns="0" lIns="0" bIns="0" rIns="0">
              <a:spAutoFit/>
            </a:bodyPr>
            <a:lstStyle/>
            <a:p>
              <a:pPr algn="l">
                <a:lnSpc>
                  <a:spcPts val="4479"/>
                </a:lnSpc>
              </a:pPr>
              <a:r>
                <a:rPr lang="en-US" sz="3199">
                  <a:solidFill>
                    <a:srgbClr val="000000"/>
                  </a:solidFill>
                  <a:latin typeface="Nunito"/>
                  <a:ea typeface="Nunito"/>
                  <a:cs typeface="Nunito"/>
                  <a:sym typeface="Nunito"/>
                </a:rPr>
                <a:t>Make our lives easier</a:t>
              </a:r>
            </a:p>
          </p:txBody>
        </p:sp>
      </p:grpSp>
      <p:grpSp>
        <p:nvGrpSpPr>
          <p:cNvPr name="Group 7" id="7"/>
          <p:cNvGrpSpPr/>
          <p:nvPr/>
        </p:nvGrpSpPr>
        <p:grpSpPr>
          <a:xfrm rot="0">
            <a:off x="14013249" y="1028700"/>
            <a:ext cx="3246051" cy="7412521"/>
            <a:chOff x="0" y="0"/>
            <a:chExt cx="937453" cy="2140722"/>
          </a:xfrm>
        </p:grpSpPr>
        <p:sp>
          <p:nvSpPr>
            <p:cNvPr name="Freeform 8" id="8"/>
            <p:cNvSpPr/>
            <p:nvPr/>
          </p:nvSpPr>
          <p:spPr>
            <a:xfrm flipH="false" flipV="false" rot="0">
              <a:off x="0" y="0"/>
              <a:ext cx="937453" cy="2140722"/>
            </a:xfrm>
            <a:custGeom>
              <a:avLst/>
              <a:gdLst/>
              <a:ahLst/>
              <a:cxnLst/>
              <a:rect r="r" b="b" t="t" l="l"/>
              <a:pathLst>
                <a:path h="2140722" w="937453">
                  <a:moveTo>
                    <a:pt x="812993" y="2140722"/>
                  </a:moveTo>
                  <a:lnTo>
                    <a:pt x="124460" y="2140722"/>
                  </a:lnTo>
                  <a:cubicBezTo>
                    <a:pt x="55880" y="2140722"/>
                    <a:pt x="0" y="2084842"/>
                    <a:pt x="0" y="2016262"/>
                  </a:cubicBezTo>
                  <a:lnTo>
                    <a:pt x="0" y="124460"/>
                  </a:lnTo>
                  <a:cubicBezTo>
                    <a:pt x="0" y="55880"/>
                    <a:pt x="55880" y="0"/>
                    <a:pt x="124460" y="0"/>
                  </a:cubicBezTo>
                  <a:lnTo>
                    <a:pt x="812993" y="0"/>
                  </a:lnTo>
                  <a:cubicBezTo>
                    <a:pt x="881573" y="0"/>
                    <a:pt x="937453" y="55880"/>
                    <a:pt x="937453" y="124460"/>
                  </a:cubicBezTo>
                  <a:lnTo>
                    <a:pt x="937453" y="2016262"/>
                  </a:lnTo>
                  <a:cubicBezTo>
                    <a:pt x="937453" y="2084842"/>
                    <a:pt x="881573" y="2140722"/>
                    <a:pt x="812993" y="2140722"/>
                  </a:cubicBezTo>
                  <a:close/>
                </a:path>
              </a:pathLst>
            </a:custGeom>
            <a:solidFill>
              <a:srgbClr val="196E63"/>
            </a:solidFill>
          </p:spPr>
        </p:sp>
      </p:grpSp>
      <p:sp>
        <p:nvSpPr>
          <p:cNvPr name="Freeform 9" id="9"/>
          <p:cNvSpPr/>
          <p:nvPr/>
        </p:nvSpPr>
        <p:spPr>
          <a:xfrm flipH="false" flipV="false" rot="0">
            <a:off x="15254119" y="7253119"/>
            <a:ext cx="2005181" cy="2005181"/>
          </a:xfrm>
          <a:custGeom>
            <a:avLst/>
            <a:gdLst/>
            <a:ahLst/>
            <a:cxnLst/>
            <a:rect r="r" b="b" t="t" l="l"/>
            <a:pathLst>
              <a:path h="2005181" w="2005181">
                <a:moveTo>
                  <a:pt x="0" y="0"/>
                </a:moveTo>
                <a:lnTo>
                  <a:pt x="2005181" y="0"/>
                </a:lnTo>
                <a:lnTo>
                  <a:pt x="2005181" y="2005181"/>
                </a:lnTo>
                <a:lnTo>
                  <a:pt x="0" y="2005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15923179" y="7887442"/>
            <a:ext cx="848132" cy="736536"/>
          </a:xfrm>
          <a:custGeom>
            <a:avLst/>
            <a:gdLst/>
            <a:ahLst/>
            <a:cxnLst/>
            <a:rect r="r" b="b" t="t" l="l"/>
            <a:pathLst>
              <a:path h="736536" w="848132">
                <a:moveTo>
                  <a:pt x="0" y="0"/>
                </a:moveTo>
                <a:lnTo>
                  <a:pt x="848132" y="0"/>
                </a:lnTo>
                <a:lnTo>
                  <a:pt x="848132" y="736536"/>
                </a:lnTo>
                <a:lnTo>
                  <a:pt x="0" y="7365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719934" y="336214"/>
            <a:ext cx="4290503" cy="9614572"/>
          </a:xfrm>
          <a:custGeom>
            <a:avLst/>
            <a:gdLst/>
            <a:ahLst/>
            <a:cxnLst/>
            <a:rect r="r" b="b" t="t" l="l"/>
            <a:pathLst>
              <a:path h="9614572" w="4290503">
                <a:moveTo>
                  <a:pt x="0" y="0"/>
                </a:moveTo>
                <a:lnTo>
                  <a:pt x="4290503" y="0"/>
                </a:lnTo>
                <a:lnTo>
                  <a:pt x="4290503" y="9614572"/>
                </a:lnTo>
                <a:lnTo>
                  <a:pt x="0" y="9614572"/>
                </a:lnTo>
                <a:lnTo>
                  <a:pt x="0" y="0"/>
                </a:lnTo>
                <a:close/>
              </a:path>
            </a:pathLst>
          </a:custGeom>
          <a:blipFill>
            <a:blip r:embed="rId6"/>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p:cSld>
    <p:bg>
      <p:bgPr>
        <a:solidFill>
          <a:srgbClr val="196E63"/>
        </a:solidFill>
      </p:bgPr>
    </p:bg>
    <p:spTree>
      <p:nvGrpSpPr>
        <p:cNvPr id="1" name=""/>
        <p:cNvGrpSpPr/>
        <p:nvPr/>
      </p:nvGrpSpPr>
      <p:grpSpPr>
        <a:xfrm>
          <a:off x="0" y="0"/>
          <a:ext cx="0" cy="0"/>
          <a:chOff x="0" y="0"/>
          <a:chExt cx="0" cy="0"/>
        </a:xfrm>
      </p:grpSpPr>
      <p:grpSp>
        <p:nvGrpSpPr>
          <p:cNvPr name="Group 2" id="2"/>
          <p:cNvGrpSpPr/>
          <p:nvPr/>
        </p:nvGrpSpPr>
        <p:grpSpPr>
          <a:xfrm rot="0">
            <a:off x="13046004" y="6119990"/>
            <a:ext cx="2934612" cy="2992567"/>
            <a:chOff x="0" y="0"/>
            <a:chExt cx="914640" cy="932703"/>
          </a:xfrm>
        </p:grpSpPr>
        <p:sp>
          <p:nvSpPr>
            <p:cNvPr name="Freeform 3" id="3"/>
            <p:cNvSpPr/>
            <p:nvPr/>
          </p:nvSpPr>
          <p:spPr>
            <a:xfrm flipH="false" flipV="false" rot="0">
              <a:off x="0" y="0"/>
              <a:ext cx="914640" cy="932703"/>
            </a:xfrm>
            <a:custGeom>
              <a:avLst/>
              <a:gdLst/>
              <a:ahLst/>
              <a:cxnLst/>
              <a:rect r="r" b="b" t="t" l="l"/>
              <a:pathLst>
                <a:path h="932703" w="914640">
                  <a:moveTo>
                    <a:pt x="790180" y="932703"/>
                  </a:moveTo>
                  <a:lnTo>
                    <a:pt x="124460" y="932703"/>
                  </a:lnTo>
                  <a:cubicBezTo>
                    <a:pt x="55880" y="932703"/>
                    <a:pt x="0" y="876823"/>
                    <a:pt x="0" y="808243"/>
                  </a:cubicBezTo>
                  <a:lnTo>
                    <a:pt x="0" y="124460"/>
                  </a:lnTo>
                  <a:cubicBezTo>
                    <a:pt x="0" y="55880"/>
                    <a:pt x="55880" y="0"/>
                    <a:pt x="124460" y="0"/>
                  </a:cubicBezTo>
                  <a:lnTo>
                    <a:pt x="790180" y="0"/>
                  </a:lnTo>
                  <a:cubicBezTo>
                    <a:pt x="858760" y="0"/>
                    <a:pt x="914640" y="55880"/>
                    <a:pt x="914640" y="124460"/>
                  </a:cubicBezTo>
                  <a:lnTo>
                    <a:pt x="914640" y="808243"/>
                  </a:lnTo>
                  <a:cubicBezTo>
                    <a:pt x="914640" y="876823"/>
                    <a:pt x="858760" y="932703"/>
                    <a:pt x="790180" y="932703"/>
                  </a:cubicBezTo>
                  <a:close/>
                </a:path>
              </a:pathLst>
            </a:custGeom>
            <a:solidFill>
              <a:srgbClr val="2E4494"/>
            </a:solidFill>
          </p:spPr>
        </p:sp>
      </p:grpSp>
      <p:grpSp>
        <p:nvGrpSpPr>
          <p:cNvPr name="Group 4" id="4"/>
          <p:cNvGrpSpPr/>
          <p:nvPr/>
        </p:nvGrpSpPr>
        <p:grpSpPr>
          <a:xfrm rot="0">
            <a:off x="9777073" y="1174442"/>
            <a:ext cx="2958427" cy="2992567"/>
            <a:chOff x="0" y="0"/>
            <a:chExt cx="922062" cy="932703"/>
          </a:xfrm>
        </p:grpSpPr>
        <p:sp>
          <p:nvSpPr>
            <p:cNvPr name="Freeform 5" id="5"/>
            <p:cNvSpPr/>
            <p:nvPr/>
          </p:nvSpPr>
          <p:spPr>
            <a:xfrm flipH="false" flipV="false" rot="0">
              <a:off x="0" y="0"/>
              <a:ext cx="922062" cy="932703"/>
            </a:xfrm>
            <a:custGeom>
              <a:avLst/>
              <a:gdLst/>
              <a:ahLst/>
              <a:cxnLst/>
              <a:rect r="r" b="b" t="t" l="l"/>
              <a:pathLst>
                <a:path h="932703" w="922062">
                  <a:moveTo>
                    <a:pt x="797602" y="932703"/>
                  </a:moveTo>
                  <a:lnTo>
                    <a:pt x="124460" y="932703"/>
                  </a:lnTo>
                  <a:cubicBezTo>
                    <a:pt x="55880" y="932703"/>
                    <a:pt x="0" y="876823"/>
                    <a:pt x="0" y="808243"/>
                  </a:cubicBezTo>
                  <a:lnTo>
                    <a:pt x="0" y="124460"/>
                  </a:lnTo>
                  <a:cubicBezTo>
                    <a:pt x="0" y="55880"/>
                    <a:pt x="55880" y="0"/>
                    <a:pt x="124460" y="0"/>
                  </a:cubicBezTo>
                  <a:lnTo>
                    <a:pt x="797602" y="0"/>
                  </a:lnTo>
                  <a:cubicBezTo>
                    <a:pt x="866182" y="0"/>
                    <a:pt x="922062" y="55880"/>
                    <a:pt x="922062" y="124460"/>
                  </a:cubicBezTo>
                  <a:lnTo>
                    <a:pt x="922062" y="808243"/>
                  </a:lnTo>
                  <a:cubicBezTo>
                    <a:pt x="922062" y="876823"/>
                    <a:pt x="866182" y="932703"/>
                    <a:pt x="797602" y="932703"/>
                  </a:cubicBezTo>
                  <a:close/>
                </a:path>
              </a:pathLst>
            </a:custGeom>
            <a:solidFill>
              <a:srgbClr val="E2C8CA"/>
            </a:solidFill>
          </p:spPr>
        </p:sp>
      </p:grpSp>
      <p:grpSp>
        <p:nvGrpSpPr>
          <p:cNvPr name="Group 6" id="6"/>
          <p:cNvGrpSpPr/>
          <p:nvPr/>
        </p:nvGrpSpPr>
        <p:grpSpPr>
          <a:xfrm rot="0">
            <a:off x="13046004" y="2841301"/>
            <a:ext cx="2958427" cy="2992567"/>
            <a:chOff x="0" y="0"/>
            <a:chExt cx="922062" cy="932703"/>
          </a:xfrm>
        </p:grpSpPr>
        <p:sp>
          <p:nvSpPr>
            <p:cNvPr name="Freeform 7" id="7"/>
            <p:cNvSpPr/>
            <p:nvPr/>
          </p:nvSpPr>
          <p:spPr>
            <a:xfrm flipH="false" flipV="false" rot="0">
              <a:off x="0" y="0"/>
              <a:ext cx="922062" cy="932703"/>
            </a:xfrm>
            <a:custGeom>
              <a:avLst/>
              <a:gdLst/>
              <a:ahLst/>
              <a:cxnLst/>
              <a:rect r="r" b="b" t="t" l="l"/>
              <a:pathLst>
                <a:path h="932703" w="922062">
                  <a:moveTo>
                    <a:pt x="797602" y="932703"/>
                  </a:moveTo>
                  <a:lnTo>
                    <a:pt x="124460" y="932703"/>
                  </a:lnTo>
                  <a:cubicBezTo>
                    <a:pt x="55880" y="932703"/>
                    <a:pt x="0" y="876823"/>
                    <a:pt x="0" y="808243"/>
                  </a:cubicBezTo>
                  <a:lnTo>
                    <a:pt x="0" y="124460"/>
                  </a:lnTo>
                  <a:cubicBezTo>
                    <a:pt x="0" y="55880"/>
                    <a:pt x="55880" y="0"/>
                    <a:pt x="124460" y="0"/>
                  </a:cubicBezTo>
                  <a:lnTo>
                    <a:pt x="797602" y="0"/>
                  </a:lnTo>
                  <a:cubicBezTo>
                    <a:pt x="866182" y="0"/>
                    <a:pt x="922062" y="55880"/>
                    <a:pt x="922062" y="124460"/>
                  </a:cubicBezTo>
                  <a:lnTo>
                    <a:pt x="922062" y="808243"/>
                  </a:lnTo>
                  <a:cubicBezTo>
                    <a:pt x="922062" y="876823"/>
                    <a:pt x="866182" y="932703"/>
                    <a:pt x="797602" y="932703"/>
                  </a:cubicBezTo>
                  <a:close/>
                </a:path>
              </a:pathLst>
            </a:custGeom>
            <a:solidFill>
              <a:srgbClr val="ECBC9E"/>
            </a:solidFill>
          </p:spPr>
        </p:sp>
      </p:grpSp>
      <p:grpSp>
        <p:nvGrpSpPr>
          <p:cNvPr name="Group 8" id="8"/>
          <p:cNvGrpSpPr/>
          <p:nvPr/>
        </p:nvGrpSpPr>
        <p:grpSpPr>
          <a:xfrm rot="0">
            <a:off x="9805502" y="4542128"/>
            <a:ext cx="2958427" cy="2875142"/>
            <a:chOff x="0" y="0"/>
            <a:chExt cx="959721" cy="932703"/>
          </a:xfrm>
        </p:grpSpPr>
        <p:sp>
          <p:nvSpPr>
            <p:cNvPr name="Freeform 9" id="9"/>
            <p:cNvSpPr/>
            <p:nvPr/>
          </p:nvSpPr>
          <p:spPr>
            <a:xfrm flipH="false" flipV="false" rot="0">
              <a:off x="0" y="0"/>
              <a:ext cx="959721" cy="932703"/>
            </a:xfrm>
            <a:custGeom>
              <a:avLst/>
              <a:gdLst/>
              <a:ahLst/>
              <a:cxnLst/>
              <a:rect r="r" b="b" t="t" l="l"/>
              <a:pathLst>
                <a:path h="932703" w="959721">
                  <a:moveTo>
                    <a:pt x="835261" y="932703"/>
                  </a:moveTo>
                  <a:lnTo>
                    <a:pt x="124460" y="932703"/>
                  </a:lnTo>
                  <a:cubicBezTo>
                    <a:pt x="55880" y="932703"/>
                    <a:pt x="0" y="876823"/>
                    <a:pt x="0" y="808243"/>
                  </a:cubicBezTo>
                  <a:lnTo>
                    <a:pt x="0" y="124460"/>
                  </a:lnTo>
                  <a:cubicBezTo>
                    <a:pt x="0" y="55880"/>
                    <a:pt x="55880" y="0"/>
                    <a:pt x="124460" y="0"/>
                  </a:cubicBezTo>
                  <a:lnTo>
                    <a:pt x="835261" y="0"/>
                  </a:lnTo>
                  <a:cubicBezTo>
                    <a:pt x="903841" y="0"/>
                    <a:pt x="959721" y="55880"/>
                    <a:pt x="959721" y="124460"/>
                  </a:cubicBezTo>
                  <a:lnTo>
                    <a:pt x="959721" y="808243"/>
                  </a:lnTo>
                  <a:cubicBezTo>
                    <a:pt x="959721" y="876823"/>
                    <a:pt x="903841" y="932703"/>
                    <a:pt x="835261" y="932703"/>
                  </a:cubicBezTo>
                  <a:close/>
                </a:path>
              </a:pathLst>
            </a:custGeom>
            <a:solidFill>
              <a:srgbClr val="CF6C58"/>
            </a:solidFill>
          </p:spPr>
        </p:sp>
      </p:grpSp>
      <p:grpSp>
        <p:nvGrpSpPr>
          <p:cNvPr name="Group 10" id="10"/>
          <p:cNvGrpSpPr/>
          <p:nvPr/>
        </p:nvGrpSpPr>
        <p:grpSpPr>
          <a:xfrm rot="0">
            <a:off x="12610894" y="2390868"/>
            <a:ext cx="559717" cy="559717"/>
            <a:chOff x="0" y="0"/>
            <a:chExt cx="746289" cy="746289"/>
          </a:xfrm>
        </p:grpSpPr>
        <p:grpSp>
          <p:nvGrpSpPr>
            <p:cNvPr name="Group 11" id="11"/>
            <p:cNvGrpSpPr>
              <a:grpSpLocks noChangeAspect="true"/>
            </p:cNvGrpSpPr>
            <p:nvPr/>
          </p:nvGrpSpPr>
          <p:grpSpPr>
            <a:xfrm rot="0">
              <a:off x="0" y="0"/>
              <a:ext cx="746289" cy="746289"/>
              <a:chOff x="1371600" y="6705600"/>
              <a:chExt cx="10972800" cy="10972800"/>
            </a:xfrm>
          </p:grpSpPr>
          <p:sp>
            <p:nvSpPr>
              <p:cNvPr name="Freeform 12" id="12"/>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2E4494"/>
              </a:solidFill>
            </p:spPr>
          </p:sp>
        </p:grpSp>
        <p:grpSp>
          <p:nvGrpSpPr>
            <p:cNvPr name="Group 13" id="13"/>
            <p:cNvGrpSpPr>
              <a:grpSpLocks noChangeAspect="true"/>
            </p:cNvGrpSpPr>
            <p:nvPr/>
          </p:nvGrpSpPr>
          <p:grpSpPr>
            <a:xfrm rot="0">
              <a:off x="163170" y="163170"/>
              <a:ext cx="419949" cy="419949"/>
              <a:chOff x="1371600" y="6705600"/>
              <a:chExt cx="10972800" cy="10972800"/>
            </a:xfrm>
          </p:grpSpPr>
          <p:sp>
            <p:nvSpPr>
              <p:cNvPr name="Freeform 14" id="14"/>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FFFFFF"/>
              </a:solidFill>
            </p:spPr>
          </p:sp>
        </p:grpSp>
      </p:grpSp>
      <p:grpSp>
        <p:nvGrpSpPr>
          <p:cNvPr name="Group 15" id="15"/>
          <p:cNvGrpSpPr/>
          <p:nvPr/>
        </p:nvGrpSpPr>
        <p:grpSpPr>
          <a:xfrm rot="0">
            <a:off x="12610894" y="4039270"/>
            <a:ext cx="559717" cy="559717"/>
            <a:chOff x="0" y="0"/>
            <a:chExt cx="746289" cy="746289"/>
          </a:xfrm>
        </p:grpSpPr>
        <p:grpSp>
          <p:nvGrpSpPr>
            <p:cNvPr name="Group 16" id="16"/>
            <p:cNvGrpSpPr>
              <a:grpSpLocks noChangeAspect="true"/>
            </p:cNvGrpSpPr>
            <p:nvPr/>
          </p:nvGrpSpPr>
          <p:grpSpPr>
            <a:xfrm rot="0">
              <a:off x="0" y="0"/>
              <a:ext cx="746289" cy="746289"/>
              <a:chOff x="1371600" y="6705600"/>
              <a:chExt cx="10972800" cy="10972800"/>
            </a:xfrm>
          </p:grpSpPr>
          <p:sp>
            <p:nvSpPr>
              <p:cNvPr name="Freeform 17" id="17"/>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2E4494"/>
              </a:solidFill>
            </p:spPr>
          </p:sp>
        </p:grpSp>
        <p:grpSp>
          <p:nvGrpSpPr>
            <p:cNvPr name="Group 18" id="18"/>
            <p:cNvGrpSpPr>
              <a:grpSpLocks noChangeAspect="true"/>
            </p:cNvGrpSpPr>
            <p:nvPr/>
          </p:nvGrpSpPr>
          <p:grpSpPr>
            <a:xfrm rot="0">
              <a:off x="163170" y="163170"/>
              <a:ext cx="419949" cy="419949"/>
              <a:chOff x="1371600" y="6705600"/>
              <a:chExt cx="10972800" cy="10972800"/>
            </a:xfrm>
          </p:grpSpPr>
          <p:sp>
            <p:nvSpPr>
              <p:cNvPr name="Freeform 19" id="19"/>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FFFFFF"/>
              </a:solidFill>
            </p:spPr>
          </p:sp>
        </p:grpSp>
      </p:grpSp>
      <p:grpSp>
        <p:nvGrpSpPr>
          <p:cNvPr name="Group 20" id="20"/>
          <p:cNvGrpSpPr/>
          <p:nvPr/>
        </p:nvGrpSpPr>
        <p:grpSpPr>
          <a:xfrm rot="0">
            <a:off x="12610894" y="5697986"/>
            <a:ext cx="559717" cy="559717"/>
            <a:chOff x="0" y="0"/>
            <a:chExt cx="746289" cy="746289"/>
          </a:xfrm>
        </p:grpSpPr>
        <p:grpSp>
          <p:nvGrpSpPr>
            <p:cNvPr name="Group 21" id="21"/>
            <p:cNvGrpSpPr>
              <a:grpSpLocks noChangeAspect="true"/>
            </p:cNvGrpSpPr>
            <p:nvPr/>
          </p:nvGrpSpPr>
          <p:grpSpPr>
            <a:xfrm rot="0">
              <a:off x="0" y="0"/>
              <a:ext cx="746289" cy="746289"/>
              <a:chOff x="1371600" y="6705600"/>
              <a:chExt cx="10972800" cy="10972800"/>
            </a:xfrm>
          </p:grpSpPr>
          <p:sp>
            <p:nvSpPr>
              <p:cNvPr name="Freeform 22" id="22"/>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2E4494"/>
              </a:solidFill>
            </p:spPr>
          </p:sp>
        </p:grpSp>
        <p:grpSp>
          <p:nvGrpSpPr>
            <p:cNvPr name="Group 23" id="23"/>
            <p:cNvGrpSpPr>
              <a:grpSpLocks noChangeAspect="true"/>
            </p:cNvGrpSpPr>
            <p:nvPr/>
          </p:nvGrpSpPr>
          <p:grpSpPr>
            <a:xfrm rot="0">
              <a:off x="163170" y="163170"/>
              <a:ext cx="419949" cy="419949"/>
              <a:chOff x="1371600" y="6705600"/>
              <a:chExt cx="10972800" cy="10972800"/>
            </a:xfrm>
          </p:grpSpPr>
          <p:sp>
            <p:nvSpPr>
              <p:cNvPr name="Freeform 24" id="24"/>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FFFFFF"/>
              </a:solidFill>
            </p:spPr>
          </p:sp>
        </p:grpSp>
      </p:grpSp>
      <p:grpSp>
        <p:nvGrpSpPr>
          <p:cNvPr name="Group 25" id="25"/>
          <p:cNvGrpSpPr/>
          <p:nvPr/>
        </p:nvGrpSpPr>
        <p:grpSpPr>
          <a:xfrm rot="0">
            <a:off x="12610894" y="7251128"/>
            <a:ext cx="559717" cy="559717"/>
            <a:chOff x="0" y="0"/>
            <a:chExt cx="746289" cy="746289"/>
          </a:xfrm>
        </p:grpSpPr>
        <p:grpSp>
          <p:nvGrpSpPr>
            <p:cNvPr name="Group 26" id="26"/>
            <p:cNvGrpSpPr>
              <a:grpSpLocks noChangeAspect="true"/>
            </p:cNvGrpSpPr>
            <p:nvPr/>
          </p:nvGrpSpPr>
          <p:grpSpPr>
            <a:xfrm rot="0">
              <a:off x="0" y="0"/>
              <a:ext cx="746289" cy="746289"/>
              <a:chOff x="1371600" y="6705600"/>
              <a:chExt cx="10972800" cy="10972800"/>
            </a:xfrm>
          </p:grpSpPr>
          <p:sp>
            <p:nvSpPr>
              <p:cNvPr name="Freeform 27" id="27"/>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2E4494"/>
              </a:solidFill>
            </p:spPr>
          </p:sp>
        </p:grpSp>
        <p:grpSp>
          <p:nvGrpSpPr>
            <p:cNvPr name="Group 28" id="28"/>
            <p:cNvGrpSpPr>
              <a:grpSpLocks noChangeAspect="true"/>
            </p:cNvGrpSpPr>
            <p:nvPr/>
          </p:nvGrpSpPr>
          <p:grpSpPr>
            <a:xfrm rot="0">
              <a:off x="163170" y="163170"/>
              <a:ext cx="419949" cy="419949"/>
              <a:chOff x="1371600" y="6705600"/>
              <a:chExt cx="10972800" cy="10972800"/>
            </a:xfrm>
          </p:grpSpPr>
          <p:sp>
            <p:nvSpPr>
              <p:cNvPr name="Freeform 29" id="29"/>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FFFFFF"/>
              </a:solidFill>
            </p:spPr>
          </p:sp>
        </p:grpSp>
      </p:grpSp>
      <p:sp>
        <p:nvSpPr>
          <p:cNvPr name="TextBox 30" id="30"/>
          <p:cNvSpPr txBox="true"/>
          <p:nvPr/>
        </p:nvSpPr>
        <p:spPr>
          <a:xfrm rot="0">
            <a:off x="10286897" y="1721960"/>
            <a:ext cx="1938780" cy="1286952"/>
          </a:xfrm>
          <a:prstGeom prst="rect">
            <a:avLst/>
          </a:prstGeom>
        </p:spPr>
        <p:txBody>
          <a:bodyPr anchor="t" rtlCol="false" tIns="0" lIns="0" bIns="0" rIns="0">
            <a:spAutoFit/>
          </a:bodyPr>
          <a:lstStyle/>
          <a:p>
            <a:pPr algn="ctr">
              <a:lnSpc>
                <a:spcPts val="5199"/>
              </a:lnSpc>
            </a:pPr>
            <a:r>
              <a:rPr lang="en-US" sz="3999">
                <a:solidFill>
                  <a:srgbClr val="2E4494"/>
                </a:solidFill>
                <a:latin typeface="League Spartan"/>
                <a:ea typeface="League Spartan"/>
                <a:cs typeface="League Spartan"/>
                <a:sym typeface="League Spartan"/>
              </a:rPr>
              <a:t>Power Usage</a:t>
            </a:r>
          </a:p>
        </p:txBody>
      </p:sp>
      <p:sp>
        <p:nvSpPr>
          <p:cNvPr name="TextBox 31" id="31"/>
          <p:cNvSpPr txBox="true"/>
          <p:nvPr/>
        </p:nvSpPr>
        <p:spPr>
          <a:xfrm rot="0">
            <a:off x="10163699" y="5496256"/>
            <a:ext cx="2185176" cy="637126"/>
          </a:xfrm>
          <a:prstGeom prst="rect">
            <a:avLst/>
          </a:prstGeom>
        </p:spPr>
        <p:txBody>
          <a:bodyPr anchor="t" rtlCol="false" tIns="0" lIns="0" bIns="0" rIns="0">
            <a:spAutoFit/>
          </a:bodyPr>
          <a:lstStyle/>
          <a:p>
            <a:pPr algn="ctr">
              <a:lnSpc>
                <a:spcPts val="5199"/>
              </a:lnSpc>
            </a:pPr>
            <a:r>
              <a:rPr lang="en-US" sz="3999">
                <a:solidFill>
                  <a:srgbClr val="FFFFFF"/>
                </a:solidFill>
                <a:latin typeface="League Spartan"/>
                <a:ea typeface="League Spartan"/>
                <a:cs typeface="League Spartan"/>
                <a:sym typeface="League Spartan"/>
              </a:rPr>
              <a:t>Interval</a:t>
            </a:r>
          </a:p>
        </p:txBody>
      </p:sp>
      <p:sp>
        <p:nvSpPr>
          <p:cNvPr name="TextBox 32" id="32"/>
          <p:cNvSpPr txBox="true"/>
          <p:nvPr/>
        </p:nvSpPr>
        <p:spPr>
          <a:xfrm rot="0">
            <a:off x="13543921" y="3634493"/>
            <a:ext cx="1938780" cy="1286952"/>
          </a:xfrm>
          <a:prstGeom prst="rect">
            <a:avLst/>
          </a:prstGeom>
        </p:spPr>
        <p:txBody>
          <a:bodyPr anchor="t" rtlCol="false" tIns="0" lIns="0" bIns="0" rIns="0">
            <a:spAutoFit/>
          </a:bodyPr>
          <a:lstStyle/>
          <a:p>
            <a:pPr algn="ctr">
              <a:lnSpc>
                <a:spcPts val="5199"/>
              </a:lnSpc>
            </a:pPr>
            <a:r>
              <a:rPr lang="en-US" sz="3999">
                <a:solidFill>
                  <a:srgbClr val="196E63"/>
                </a:solidFill>
                <a:latin typeface="League Spartan"/>
                <a:ea typeface="League Spartan"/>
                <a:cs typeface="League Spartan"/>
                <a:sym typeface="League Spartan"/>
              </a:rPr>
              <a:t>Deep Sleep</a:t>
            </a:r>
          </a:p>
        </p:txBody>
      </p:sp>
      <p:sp>
        <p:nvSpPr>
          <p:cNvPr name="TextBox 33" id="33"/>
          <p:cNvSpPr txBox="true"/>
          <p:nvPr/>
        </p:nvSpPr>
        <p:spPr>
          <a:xfrm rot="0">
            <a:off x="13543921" y="6953748"/>
            <a:ext cx="1938780" cy="1286952"/>
          </a:xfrm>
          <a:prstGeom prst="rect">
            <a:avLst/>
          </a:prstGeom>
        </p:spPr>
        <p:txBody>
          <a:bodyPr anchor="t" rtlCol="false" tIns="0" lIns="0" bIns="0" rIns="0">
            <a:spAutoFit/>
          </a:bodyPr>
          <a:lstStyle/>
          <a:p>
            <a:pPr algn="ctr">
              <a:lnSpc>
                <a:spcPts val="5199"/>
              </a:lnSpc>
            </a:pPr>
            <a:r>
              <a:rPr lang="en-US" sz="3999">
                <a:solidFill>
                  <a:srgbClr val="FFFFFF"/>
                </a:solidFill>
                <a:latin typeface="League Spartan"/>
                <a:ea typeface="League Spartan"/>
                <a:cs typeface="League Spartan"/>
                <a:sym typeface="League Spartan"/>
              </a:rPr>
              <a:t>Duty Cycle</a:t>
            </a:r>
          </a:p>
        </p:txBody>
      </p:sp>
      <p:grpSp>
        <p:nvGrpSpPr>
          <p:cNvPr name="Group 34" id="34"/>
          <p:cNvGrpSpPr/>
          <p:nvPr/>
        </p:nvGrpSpPr>
        <p:grpSpPr>
          <a:xfrm rot="0">
            <a:off x="2283569" y="1028700"/>
            <a:ext cx="6563431" cy="8229600"/>
            <a:chOff x="0" y="0"/>
            <a:chExt cx="1114902" cy="1397927"/>
          </a:xfrm>
        </p:grpSpPr>
        <p:sp>
          <p:nvSpPr>
            <p:cNvPr name="Freeform 35" id="35"/>
            <p:cNvSpPr/>
            <p:nvPr/>
          </p:nvSpPr>
          <p:spPr>
            <a:xfrm flipH="false" flipV="false" rot="0">
              <a:off x="0" y="0"/>
              <a:ext cx="1114903" cy="1397928"/>
            </a:xfrm>
            <a:custGeom>
              <a:avLst/>
              <a:gdLst/>
              <a:ahLst/>
              <a:cxnLst/>
              <a:rect r="r" b="b" t="t" l="l"/>
              <a:pathLst>
                <a:path h="1397928" w="1114903">
                  <a:moveTo>
                    <a:pt x="990442" y="1397927"/>
                  </a:moveTo>
                  <a:lnTo>
                    <a:pt x="124460" y="1397927"/>
                  </a:lnTo>
                  <a:cubicBezTo>
                    <a:pt x="55880" y="1397927"/>
                    <a:pt x="0" y="1342047"/>
                    <a:pt x="0" y="1273467"/>
                  </a:cubicBezTo>
                  <a:lnTo>
                    <a:pt x="0" y="124460"/>
                  </a:lnTo>
                  <a:cubicBezTo>
                    <a:pt x="0" y="55880"/>
                    <a:pt x="55880" y="0"/>
                    <a:pt x="124460" y="0"/>
                  </a:cubicBezTo>
                  <a:lnTo>
                    <a:pt x="990443" y="0"/>
                  </a:lnTo>
                  <a:cubicBezTo>
                    <a:pt x="1059022" y="0"/>
                    <a:pt x="1114903" y="55880"/>
                    <a:pt x="1114903" y="124460"/>
                  </a:cubicBezTo>
                  <a:lnTo>
                    <a:pt x="1114903" y="1273468"/>
                  </a:lnTo>
                  <a:cubicBezTo>
                    <a:pt x="1114903" y="1342047"/>
                    <a:pt x="1059022" y="1397928"/>
                    <a:pt x="990443" y="1397928"/>
                  </a:cubicBezTo>
                  <a:close/>
                </a:path>
              </a:pathLst>
            </a:custGeom>
            <a:solidFill>
              <a:srgbClr val="FFFFFF"/>
            </a:solidFill>
          </p:spPr>
        </p:sp>
      </p:grpSp>
      <p:grpSp>
        <p:nvGrpSpPr>
          <p:cNvPr name="Group 36" id="36"/>
          <p:cNvGrpSpPr/>
          <p:nvPr/>
        </p:nvGrpSpPr>
        <p:grpSpPr>
          <a:xfrm rot="0">
            <a:off x="3347691" y="3672593"/>
            <a:ext cx="4435188" cy="2955901"/>
            <a:chOff x="0" y="0"/>
            <a:chExt cx="5913584" cy="3941202"/>
          </a:xfrm>
        </p:grpSpPr>
        <p:sp>
          <p:nvSpPr>
            <p:cNvPr name="TextBox 37" id="37"/>
            <p:cNvSpPr txBox="true"/>
            <p:nvPr/>
          </p:nvSpPr>
          <p:spPr>
            <a:xfrm rot="0">
              <a:off x="0" y="-57150"/>
              <a:ext cx="5913584" cy="2156883"/>
            </a:xfrm>
            <a:prstGeom prst="rect">
              <a:avLst/>
            </a:prstGeom>
          </p:spPr>
          <p:txBody>
            <a:bodyPr anchor="t" rtlCol="false" tIns="0" lIns="0" bIns="0" rIns="0">
              <a:spAutoFit/>
            </a:bodyPr>
            <a:lstStyle/>
            <a:p>
              <a:pPr algn="l">
                <a:lnSpc>
                  <a:spcPts val="6500"/>
                </a:lnSpc>
              </a:pPr>
              <a:r>
                <a:rPr lang="en-US" sz="5000">
                  <a:solidFill>
                    <a:srgbClr val="2E4494"/>
                  </a:solidFill>
                  <a:latin typeface="League Spartan"/>
                  <a:ea typeface="League Spartan"/>
                  <a:cs typeface="League Spartan"/>
                  <a:sym typeface="League Spartan"/>
                </a:rPr>
                <a:t>Power Management</a:t>
              </a:r>
            </a:p>
          </p:txBody>
        </p:sp>
        <p:sp>
          <p:nvSpPr>
            <p:cNvPr name="TextBox 38" id="38"/>
            <p:cNvSpPr txBox="true"/>
            <p:nvPr/>
          </p:nvSpPr>
          <p:spPr>
            <a:xfrm rot="0">
              <a:off x="0" y="2519718"/>
              <a:ext cx="5913584" cy="1421483"/>
            </a:xfrm>
            <a:prstGeom prst="rect">
              <a:avLst/>
            </a:prstGeom>
          </p:spPr>
          <p:txBody>
            <a:bodyPr anchor="t" rtlCol="false" tIns="0" lIns="0" bIns="0" rIns="0">
              <a:spAutoFit/>
            </a:bodyPr>
            <a:lstStyle/>
            <a:p>
              <a:pPr algn="l">
                <a:lnSpc>
                  <a:spcPts val="4479"/>
                </a:lnSpc>
              </a:pPr>
              <a:r>
                <a:rPr lang="en-US" sz="3199">
                  <a:solidFill>
                    <a:srgbClr val="000000"/>
                  </a:solidFill>
                  <a:latin typeface="Nunito"/>
                  <a:ea typeface="Nunito"/>
                  <a:cs typeface="Nunito"/>
                  <a:sym typeface="Nunito"/>
                </a:rPr>
                <a:t>How long can the system support itself?</a:t>
              </a:r>
            </a:p>
          </p:txBody>
        </p:sp>
      </p:grpSp>
    </p:spTree>
  </p:cSld>
  <p:clrMapOvr>
    <a:masterClrMapping/>
  </p:clrMapOvr>
</p:sld>
</file>

<file path=ppt/slides/slide15.xml><?xml version="1.0" encoding="utf-8"?>
<p:sld xmlns:p="http://schemas.openxmlformats.org/presentationml/2006/main" xmlns:a="http://schemas.openxmlformats.org/drawingml/2006/main">
  <p:cSld>
    <p:bg>
      <p:bgPr>
        <a:solidFill>
          <a:srgbClr val="196E63"/>
        </a:solidFill>
      </p:bgPr>
    </p:bg>
    <p:spTree>
      <p:nvGrpSpPr>
        <p:cNvPr id="1" name=""/>
        <p:cNvGrpSpPr/>
        <p:nvPr/>
      </p:nvGrpSpPr>
      <p:grpSpPr>
        <a:xfrm>
          <a:off x="0" y="0"/>
          <a:ext cx="0" cy="0"/>
          <a:chOff x="0" y="0"/>
          <a:chExt cx="0" cy="0"/>
        </a:xfrm>
      </p:grpSpPr>
      <p:grpSp>
        <p:nvGrpSpPr>
          <p:cNvPr name="Group 2" id="2"/>
          <p:cNvGrpSpPr/>
          <p:nvPr/>
        </p:nvGrpSpPr>
        <p:grpSpPr>
          <a:xfrm rot="0">
            <a:off x="13046004" y="6119990"/>
            <a:ext cx="2934612" cy="2992567"/>
            <a:chOff x="0" y="0"/>
            <a:chExt cx="914640" cy="932703"/>
          </a:xfrm>
        </p:grpSpPr>
        <p:sp>
          <p:nvSpPr>
            <p:cNvPr name="Freeform 3" id="3"/>
            <p:cNvSpPr/>
            <p:nvPr/>
          </p:nvSpPr>
          <p:spPr>
            <a:xfrm flipH="false" flipV="false" rot="0">
              <a:off x="0" y="0"/>
              <a:ext cx="914640" cy="932703"/>
            </a:xfrm>
            <a:custGeom>
              <a:avLst/>
              <a:gdLst/>
              <a:ahLst/>
              <a:cxnLst/>
              <a:rect r="r" b="b" t="t" l="l"/>
              <a:pathLst>
                <a:path h="932703" w="914640">
                  <a:moveTo>
                    <a:pt x="790180" y="932703"/>
                  </a:moveTo>
                  <a:lnTo>
                    <a:pt x="124460" y="932703"/>
                  </a:lnTo>
                  <a:cubicBezTo>
                    <a:pt x="55880" y="932703"/>
                    <a:pt x="0" y="876823"/>
                    <a:pt x="0" y="808243"/>
                  </a:cubicBezTo>
                  <a:lnTo>
                    <a:pt x="0" y="124460"/>
                  </a:lnTo>
                  <a:cubicBezTo>
                    <a:pt x="0" y="55880"/>
                    <a:pt x="55880" y="0"/>
                    <a:pt x="124460" y="0"/>
                  </a:cubicBezTo>
                  <a:lnTo>
                    <a:pt x="790180" y="0"/>
                  </a:lnTo>
                  <a:cubicBezTo>
                    <a:pt x="858760" y="0"/>
                    <a:pt x="914640" y="55880"/>
                    <a:pt x="914640" y="124460"/>
                  </a:cubicBezTo>
                  <a:lnTo>
                    <a:pt x="914640" y="808243"/>
                  </a:lnTo>
                  <a:cubicBezTo>
                    <a:pt x="914640" y="876823"/>
                    <a:pt x="858760" y="932703"/>
                    <a:pt x="790180" y="932703"/>
                  </a:cubicBezTo>
                  <a:close/>
                </a:path>
              </a:pathLst>
            </a:custGeom>
            <a:solidFill>
              <a:srgbClr val="2E4494"/>
            </a:solidFill>
          </p:spPr>
        </p:sp>
      </p:grpSp>
      <p:grpSp>
        <p:nvGrpSpPr>
          <p:cNvPr name="Group 4" id="4"/>
          <p:cNvGrpSpPr/>
          <p:nvPr/>
        </p:nvGrpSpPr>
        <p:grpSpPr>
          <a:xfrm rot="0">
            <a:off x="9777073" y="1174442"/>
            <a:ext cx="2958427" cy="2992567"/>
            <a:chOff x="0" y="0"/>
            <a:chExt cx="922062" cy="932703"/>
          </a:xfrm>
        </p:grpSpPr>
        <p:sp>
          <p:nvSpPr>
            <p:cNvPr name="Freeform 5" id="5"/>
            <p:cNvSpPr/>
            <p:nvPr/>
          </p:nvSpPr>
          <p:spPr>
            <a:xfrm flipH="false" flipV="false" rot="0">
              <a:off x="0" y="0"/>
              <a:ext cx="922062" cy="932703"/>
            </a:xfrm>
            <a:custGeom>
              <a:avLst/>
              <a:gdLst/>
              <a:ahLst/>
              <a:cxnLst/>
              <a:rect r="r" b="b" t="t" l="l"/>
              <a:pathLst>
                <a:path h="932703" w="922062">
                  <a:moveTo>
                    <a:pt x="797602" y="932703"/>
                  </a:moveTo>
                  <a:lnTo>
                    <a:pt x="124460" y="932703"/>
                  </a:lnTo>
                  <a:cubicBezTo>
                    <a:pt x="55880" y="932703"/>
                    <a:pt x="0" y="876823"/>
                    <a:pt x="0" y="808243"/>
                  </a:cubicBezTo>
                  <a:lnTo>
                    <a:pt x="0" y="124460"/>
                  </a:lnTo>
                  <a:cubicBezTo>
                    <a:pt x="0" y="55880"/>
                    <a:pt x="55880" y="0"/>
                    <a:pt x="124460" y="0"/>
                  </a:cubicBezTo>
                  <a:lnTo>
                    <a:pt x="797602" y="0"/>
                  </a:lnTo>
                  <a:cubicBezTo>
                    <a:pt x="866182" y="0"/>
                    <a:pt x="922062" y="55880"/>
                    <a:pt x="922062" y="124460"/>
                  </a:cubicBezTo>
                  <a:lnTo>
                    <a:pt x="922062" y="808243"/>
                  </a:lnTo>
                  <a:cubicBezTo>
                    <a:pt x="922062" y="876823"/>
                    <a:pt x="866182" y="932703"/>
                    <a:pt x="797602" y="932703"/>
                  </a:cubicBezTo>
                  <a:close/>
                </a:path>
              </a:pathLst>
            </a:custGeom>
            <a:solidFill>
              <a:srgbClr val="E2C8CA"/>
            </a:solidFill>
          </p:spPr>
        </p:sp>
      </p:grpSp>
      <p:grpSp>
        <p:nvGrpSpPr>
          <p:cNvPr name="Group 6" id="6"/>
          <p:cNvGrpSpPr/>
          <p:nvPr/>
        </p:nvGrpSpPr>
        <p:grpSpPr>
          <a:xfrm rot="0">
            <a:off x="13046004" y="2841301"/>
            <a:ext cx="2958427" cy="2992567"/>
            <a:chOff x="0" y="0"/>
            <a:chExt cx="922062" cy="932703"/>
          </a:xfrm>
        </p:grpSpPr>
        <p:sp>
          <p:nvSpPr>
            <p:cNvPr name="Freeform 7" id="7"/>
            <p:cNvSpPr/>
            <p:nvPr/>
          </p:nvSpPr>
          <p:spPr>
            <a:xfrm flipH="false" flipV="false" rot="0">
              <a:off x="0" y="0"/>
              <a:ext cx="922062" cy="932703"/>
            </a:xfrm>
            <a:custGeom>
              <a:avLst/>
              <a:gdLst/>
              <a:ahLst/>
              <a:cxnLst/>
              <a:rect r="r" b="b" t="t" l="l"/>
              <a:pathLst>
                <a:path h="932703" w="922062">
                  <a:moveTo>
                    <a:pt x="797602" y="932703"/>
                  </a:moveTo>
                  <a:lnTo>
                    <a:pt x="124460" y="932703"/>
                  </a:lnTo>
                  <a:cubicBezTo>
                    <a:pt x="55880" y="932703"/>
                    <a:pt x="0" y="876823"/>
                    <a:pt x="0" y="808243"/>
                  </a:cubicBezTo>
                  <a:lnTo>
                    <a:pt x="0" y="124460"/>
                  </a:lnTo>
                  <a:cubicBezTo>
                    <a:pt x="0" y="55880"/>
                    <a:pt x="55880" y="0"/>
                    <a:pt x="124460" y="0"/>
                  </a:cubicBezTo>
                  <a:lnTo>
                    <a:pt x="797602" y="0"/>
                  </a:lnTo>
                  <a:cubicBezTo>
                    <a:pt x="866182" y="0"/>
                    <a:pt x="922062" y="55880"/>
                    <a:pt x="922062" y="124460"/>
                  </a:cubicBezTo>
                  <a:lnTo>
                    <a:pt x="922062" y="808243"/>
                  </a:lnTo>
                  <a:cubicBezTo>
                    <a:pt x="922062" y="876823"/>
                    <a:pt x="866182" y="932703"/>
                    <a:pt x="797602" y="932703"/>
                  </a:cubicBezTo>
                  <a:close/>
                </a:path>
              </a:pathLst>
            </a:custGeom>
            <a:solidFill>
              <a:srgbClr val="ECBC9E"/>
            </a:solidFill>
          </p:spPr>
        </p:sp>
      </p:grpSp>
      <p:grpSp>
        <p:nvGrpSpPr>
          <p:cNvPr name="Group 8" id="8"/>
          <p:cNvGrpSpPr/>
          <p:nvPr/>
        </p:nvGrpSpPr>
        <p:grpSpPr>
          <a:xfrm rot="0">
            <a:off x="9805502" y="4542128"/>
            <a:ext cx="2958427" cy="2875142"/>
            <a:chOff x="0" y="0"/>
            <a:chExt cx="959721" cy="932703"/>
          </a:xfrm>
        </p:grpSpPr>
        <p:sp>
          <p:nvSpPr>
            <p:cNvPr name="Freeform 9" id="9"/>
            <p:cNvSpPr/>
            <p:nvPr/>
          </p:nvSpPr>
          <p:spPr>
            <a:xfrm flipH="false" flipV="false" rot="0">
              <a:off x="0" y="0"/>
              <a:ext cx="959721" cy="932703"/>
            </a:xfrm>
            <a:custGeom>
              <a:avLst/>
              <a:gdLst/>
              <a:ahLst/>
              <a:cxnLst/>
              <a:rect r="r" b="b" t="t" l="l"/>
              <a:pathLst>
                <a:path h="932703" w="959721">
                  <a:moveTo>
                    <a:pt x="835261" y="932703"/>
                  </a:moveTo>
                  <a:lnTo>
                    <a:pt x="124460" y="932703"/>
                  </a:lnTo>
                  <a:cubicBezTo>
                    <a:pt x="55880" y="932703"/>
                    <a:pt x="0" y="876823"/>
                    <a:pt x="0" y="808243"/>
                  </a:cubicBezTo>
                  <a:lnTo>
                    <a:pt x="0" y="124460"/>
                  </a:lnTo>
                  <a:cubicBezTo>
                    <a:pt x="0" y="55880"/>
                    <a:pt x="55880" y="0"/>
                    <a:pt x="124460" y="0"/>
                  </a:cubicBezTo>
                  <a:lnTo>
                    <a:pt x="835261" y="0"/>
                  </a:lnTo>
                  <a:cubicBezTo>
                    <a:pt x="903841" y="0"/>
                    <a:pt x="959721" y="55880"/>
                    <a:pt x="959721" y="124460"/>
                  </a:cubicBezTo>
                  <a:lnTo>
                    <a:pt x="959721" y="808243"/>
                  </a:lnTo>
                  <a:cubicBezTo>
                    <a:pt x="959721" y="876823"/>
                    <a:pt x="903841" y="932703"/>
                    <a:pt x="835261" y="932703"/>
                  </a:cubicBezTo>
                  <a:close/>
                </a:path>
              </a:pathLst>
            </a:custGeom>
            <a:solidFill>
              <a:srgbClr val="CF6C58"/>
            </a:solidFill>
          </p:spPr>
        </p:sp>
      </p:grpSp>
      <p:grpSp>
        <p:nvGrpSpPr>
          <p:cNvPr name="Group 10" id="10"/>
          <p:cNvGrpSpPr/>
          <p:nvPr/>
        </p:nvGrpSpPr>
        <p:grpSpPr>
          <a:xfrm rot="0">
            <a:off x="12610894" y="2390868"/>
            <a:ext cx="559717" cy="559717"/>
            <a:chOff x="0" y="0"/>
            <a:chExt cx="746289" cy="746289"/>
          </a:xfrm>
        </p:grpSpPr>
        <p:grpSp>
          <p:nvGrpSpPr>
            <p:cNvPr name="Group 11" id="11"/>
            <p:cNvGrpSpPr>
              <a:grpSpLocks noChangeAspect="true"/>
            </p:cNvGrpSpPr>
            <p:nvPr/>
          </p:nvGrpSpPr>
          <p:grpSpPr>
            <a:xfrm rot="0">
              <a:off x="0" y="0"/>
              <a:ext cx="746289" cy="746289"/>
              <a:chOff x="1371600" y="6705600"/>
              <a:chExt cx="10972800" cy="10972800"/>
            </a:xfrm>
          </p:grpSpPr>
          <p:sp>
            <p:nvSpPr>
              <p:cNvPr name="Freeform 12" id="12"/>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2E4494"/>
              </a:solidFill>
            </p:spPr>
          </p:sp>
        </p:grpSp>
        <p:grpSp>
          <p:nvGrpSpPr>
            <p:cNvPr name="Group 13" id="13"/>
            <p:cNvGrpSpPr>
              <a:grpSpLocks noChangeAspect="true"/>
            </p:cNvGrpSpPr>
            <p:nvPr/>
          </p:nvGrpSpPr>
          <p:grpSpPr>
            <a:xfrm rot="0">
              <a:off x="163170" y="163170"/>
              <a:ext cx="419949" cy="419949"/>
              <a:chOff x="1371600" y="6705600"/>
              <a:chExt cx="10972800" cy="10972800"/>
            </a:xfrm>
          </p:grpSpPr>
          <p:sp>
            <p:nvSpPr>
              <p:cNvPr name="Freeform 14" id="14"/>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FFFFFF"/>
              </a:solidFill>
            </p:spPr>
          </p:sp>
        </p:grpSp>
      </p:grpSp>
      <p:grpSp>
        <p:nvGrpSpPr>
          <p:cNvPr name="Group 15" id="15"/>
          <p:cNvGrpSpPr/>
          <p:nvPr/>
        </p:nvGrpSpPr>
        <p:grpSpPr>
          <a:xfrm rot="0">
            <a:off x="12610894" y="4039270"/>
            <a:ext cx="559717" cy="559717"/>
            <a:chOff x="0" y="0"/>
            <a:chExt cx="746289" cy="746289"/>
          </a:xfrm>
        </p:grpSpPr>
        <p:grpSp>
          <p:nvGrpSpPr>
            <p:cNvPr name="Group 16" id="16"/>
            <p:cNvGrpSpPr>
              <a:grpSpLocks noChangeAspect="true"/>
            </p:cNvGrpSpPr>
            <p:nvPr/>
          </p:nvGrpSpPr>
          <p:grpSpPr>
            <a:xfrm rot="0">
              <a:off x="0" y="0"/>
              <a:ext cx="746289" cy="746289"/>
              <a:chOff x="1371600" y="6705600"/>
              <a:chExt cx="10972800" cy="10972800"/>
            </a:xfrm>
          </p:grpSpPr>
          <p:sp>
            <p:nvSpPr>
              <p:cNvPr name="Freeform 17" id="17"/>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2E4494"/>
              </a:solidFill>
            </p:spPr>
          </p:sp>
        </p:grpSp>
        <p:grpSp>
          <p:nvGrpSpPr>
            <p:cNvPr name="Group 18" id="18"/>
            <p:cNvGrpSpPr>
              <a:grpSpLocks noChangeAspect="true"/>
            </p:cNvGrpSpPr>
            <p:nvPr/>
          </p:nvGrpSpPr>
          <p:grpSpPr>
            <a:xfrm rot="0">
              <a:off x="163170" y="163170"/>
              <a:ext cx="419949" cy="419949"/>
              <a:chOff x="1371600" y="6705600"/>
              <a:chExt cx="10972800" cy="10972800"/>
            </a:xfrm>
          </p:grpSpPr>
          <p:sp>
            <p:nvSpPr>
              <p:cNvPr name="Freeform 19" id="19"/>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FFFFFF"/>
              </a:solidFill>
            </p:spPr>
          </p:sp>
        </p:grpSp>
      </p:grpSp>
      <p:grpSp>
        <p:nvGrpSpPr>
          <p:cNvPr name="Group 20" id="20"/>
          <p:cNvGrpSpPr/>
          <p:nvPr/>
        </p:nvGrpSpPr>
        <p:grpSpPr>
          <a:xfrm rot="0">
            <a:off x="12610894" y="5697986"/>
            <a:ext cx="559717" cy="559717"/>
            <a:chOff x="0" y="0"/>
            <a:chExt cx="746289" cy="746289"/>
          </a:xfrm>
        </p:grpSpPr>
        <p:grpSp>
          <p:nvGrpSpPr>
            <p:cNvPr name="Group 21" id="21"/>
            <p:cNvGrpSpPr>
              <a:grpSpLocks noChangeAspect="true"/>
            </p:cNvGrpSpPr>
            <p:nvPr/>
          </p:nvGrpSpPr>
          <p:grpSpPr>
            <a:xfrm rot="0">
              <a:off x="0" y="0"/>
              <a:ext cx="746289" cy="746289"/>
              <a:chOff x="1371600" y="6705600"/>
              <a:chExt cx="10972800" cy="10972800"/>
            </a:xfrm>
          </p:grpSpPr>
          <p:sp>
            <p:nvSpPr>
              <p:cNvPr name="Freeform 22" id="22"/>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2E4494"/>
              </a:solidFill>
            </p:spPr>
          </p:sp>
        </p:grpSp>
        <p:grpSp>
          <p:nvGrpSpPr>
            <p:cNvPr name="Group 23" id="23"/>
            <p:cNvGrpSpPr>
              <a:grpSpLocks noChangeAspect="true"/>
            </p:cNvGrpSpPr>
            <p:nvPr/>
          </p:nvGrpSpPr>
          <p:grpSpPr>
            <a:xfrm rot="0">
              <a:off x="163170" y="163170"/>
              <a:ext cx="419949" cy="419949"/>
              <a:chOff x="1371600" y="6705600"/>
              <a:chExt cx="10972800" cy="10972800"/>
            </a:xfrm>
          </p:grpSpPr>
          <p:sp>
            <p:nvSpPr>
              <p:cNvPr name="Freeform 24" id="24"/>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FFFFFF"/>
              </a:solidFill>
            </p:spPr>
          </p:sp>
        </p:grpSp>
      </p:grpSp>
      <p:grpSp>
        <p:nvGrpSpPr>
          <p:cNvPr name="Group 25" id="25"/>
          <p:cNvGrpSpPr/>
          <p:nvPr/>
        </p:nvGrpSpPr>
        <p:grpSpPr>
          <a:xfrm rot="0">
            <a:off x="12610894" y="7251128"/>
            <a:ext cx="559717" cy="559717"/>
            <a:chOff x="0" y="0"/>
            <a:chExt cx="746289" cy="746289"/>
          </a:xfrm>
        </p:grpSpPr>
        <p:grpSp>
          <p:nvGrpSpPr>
            <p:cNvPr name="Group 26" id="26"/>
            <p:cNvGrpSpPr>
              <a:grpSpLocks noChangeAspect="true"/>
            </p:cNvGrpSpPr>
            <p:nvPr/>
          </p:nvGrpSpPr>
          <p:grpSpPr>
            <a:xfrm rot="0">
              <a:off x="0" y="0"/>
              <a:ext cx="746289" cy="746289"/>
              <a:chOff x="1371600" y="6705600"/>
              <a:chExt cx="10972800" cy="10972800"/>
            </a:xfrm>
          </p:grpSpPr>
          <p:sp>
            <p:nvSpPr>
              <p:cNvPr name="Freeform 27" id="27"/>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2E4494"/>
              </a:solidFill>
            </p:spPr>
          </p:sp>
        </p:grpSp>
        <p:grpSp>
          <p:nvGrpSpPr>
            <p:cNvPr name="Group 28" id="28"/>
            <p:cNvGrpSpPr>
              <a:grpSpLocks noChangeAspect="true"/>
            </p:cNvGrpSpPr>
            <p:nvPr/>
          </p:nvGrpSpPr>
          <p:grpSpPr>
            <a:xfrm rot="0">
              <a:off x="163170" y="163170"/>
              <a:ext cx="419949" cy="419949"/>
              <a:chOff x="1371600" y="6705600"/>
              <a:chExt cx="10972800" cy="10972800"/>
            </a:xfrm>
          </p:grpSpPr>
          <p:sp>
            <p:nvSpPr>
              <p:cNvPr name="Freeform 29" id="29"/>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FFFFFF"/>
              </a:solidFill>
            </p:spPr>
          </p:sp>
        </p:grpSp>
      </p:grpSp>
      <p:sp>
        <p:nvSpPr>
          <p:cNvPr name="TextBox 30" id="30"/>
          <p:cNvSpPr txBox="true"/>
          <p:nvPr/>
        </p:nvSpPr>
        <p:spPr>
          <a:xfrm rot="0">
            <a:off x="10286897" y="2352768"/>
            <a:ext cx="1938780" cy="637126"/>
          </a:xfrm>
          <a:prstGeom prst="rect">
            <a:avLst/>
          </a:prstGeom>
        </p:spPr>
        <p:txBody>
          <a:bodyPr anchor="t" rtlCol="false" tIns="0" lIns="0" bIns="0" rIns="0">
            <a:spAutoFit/>
          </a:bodyPr>
          <a:lstStyle/>
          <a:p>
            <a:pPr algn="ctr">
              <a:lnSpc>
                <a:spcPts val="5199"/>
              </a:lnSpc>
            </a:pPr>
            <a:r>
              <a:rPr lang="en-US" sz="3999">
                <a:solidFill>
                  <a:srgbClr val="2E4494"/>
                </a:solidFill>
                <a:latin typeface="League Spartan"/>
                <a:ea typeface="League Spartan"/>
                <a:cs typeface="League Spartan"/>
                <a:sym typeface="League Spartan"/>
              </a:rPr>
              <a:t>ESP32</a:t>
            </a:r>
          </a:p>
        </p:txBody>
      </p:sp>
      <p:sp>
        <p:nvSpPr>
          <p:cNvPr name="TextBox 31" id="31"/>
          <p:cNvSpPr txBox="true"/>
          <p:nvPr/>
        </p:nvSpPr>
        <p:spPr>
          <a:xfrm rot="0">
            <a:off x="10163699" y="5171343"/>
            <a:ext cx="2185176" cy="1286952"/>
          </a:xfrm>
          <a:prstGeom prst="rect">
            <a:avLst/>
          </a:prstGeom>
        </p:spPr>
        <p:txBody>
          <a:bodyPr anchor="t" rtlCol="false" tIns="0" lIns="0" bIns="0" rIns="0">
            <a:spAutoFit/>
          </a:bodyPr>
          <a:lstStyle/>
          <a:p>
            <a:pPr algn="ctr">
              <a:lnSpc>
                <a:spcPts val="5199"/>
              </a:lnSpc>
            </a:pPr>
            <a:r>
              <a:rPr lang="en-US" sz="3999">
                <a:solidFill>
                  <a:srgbClr val="FFFFFF"/>
                </a:solidFill>
                <a:latin typeface="League Spartan"/>
                <a:ea typeface="League Spartan"/>
                <a:cs typeface="League Spartan"/>
                <a:sym typeface="League Spartan"/>
              </a:rPr>
              <a:t>MQTT Broker</a:t>
            </a:r>
          </a:p>
        </p:txBody>
      </p:sp>
      <p:sp>
        <p:nvSpPr>
          <p:cNvPr name="TextBox 32" id="32"/>
          <p:cNvSpPr txBox="true"/>
          <p:nvPr/>
        </p:nvSpPr>
        <p:spPr>
          <a:xfrm rot="0">
            <a:off x="13543921" y="3959406"/>
            <a:ext cx="1938780" cy="637126"/>
          </a:xfrm>
          <a:prstGeom prst="rect">
            <a:avLst/>
          </a:prstGeom>
        </p:spPr>
        <p:txBody>
          <a:bodyPr anchor="t" rtlCol="false" tIns="0" lIns="0" bIns="0" rIns="0">
            <a:spAutoFit/>
          </a:bodyPr>
          <a:lstStyle/>
          <a:p>
            <a:pPr algn="ctr">
              <a:lnSpc>
                <a:spcPts val="5199"/>
              </a:lnSpc>
            </a:pPr>
            <a:r>
              <a:rPr lang="en-US" sz="3999">
                <a:solidFill>
                  <a:srgbClr val="196E63"/>
                </a:solidFill>
                <a:latin typeface="League Spartan"/>
                <a:ea typeface="League Spartan"/>
                <a:cs typeface="League Spartan"/>
                <a:sym typeface="League Spartan"/>
              </a:rPr>
              <a:t>AWS</a:t>
            </a:r>
          </a:p>
        </p:txBody>
      </p:sp>
      <p:sp>
        <p:nvSpPr>
          <p:cNvPr name="TextBox 33" id="33"/>
          <p:cNvSpPr txBox="true"/>
          <p:nvPr/>
        </p:nvSpPr>
        <p:spPr>
          <a:xfrm rot="0">
            <a:off x="13543921" y="7278661"/>
            <a:ext cx="1938780" cy="637126"/>
          </a:xfrm>
          <a:prstGeom prst="rect">
            <a:avLst/>
          </a:prstGeom>
        </p:spPr>
        <p:txBody>
          <a:bodyPr anchor="t" rtlCol="false" tIns="0" lIns="0" bIns="0" rIns="0">
            <a:spAutoFit/>
          </a:bodyPr>
          <a:lstStyle/>
          <a:p>
            <a:pPr algn="ctr">
              <a:lnSpc>
                <a:spcPts val="5199"/>
              </a:lnSpc>
            </a:pPr>
            <a:r>
              <a:rPr lang="en-US" sz="3999">
                <a:solidFill>
                  <a:srgbClr val="FFFFFF"/>
                </a:solidFill>
                <a:latin typeface="League Spartan"/>
                <a:ea typeface="League Spartan"/>
                <a:cs typeface="League Spartan"/>
                <a:sym typeface="League Spartan"/>
              </a:rPr>
              <a:t>App</a:t>
            </a:r>
          </a:p>
        </p:txBody>
      </p:sp>
      <p:grpSp>
        <p:nvGrpSpPr>
          <p:cNvPr name="Group 34" id="34"/>
          <p:cNvGrpSpPr/>
          <p:nvPr/>
        </p:nvGrpSpPr>
        <p:grpSpPr>
          <a:xfrm rot="0">
            <a:off x="2283569" y="1028700"/>
            <a:ext cx="6563431" cy="8229600"/>
            <a:chOff x="0" y="0"/>
            <a:chExt cx="1114902" cy="1397927"/>
          </a:xfrm>
        </p:grpSpPr>
        <p:sp>
          <p:nvSpPr>
            <p:cNvPr name="Freeform 35" id="35"/>
            <p:cNvSpPr/>
            <p:nvPr/>
          </p:nvSpPr>
          <p:spPr>
            <a:xfrm flipH="false" flipV="false" rot="0">
              <a:off x="0" y="0"/>
              <a:ext cx="1114903" cy="1397928"/>
            </a:xfrm>
            <a:custGeom>
              <a:avLst/>
              <a:gdLst/>
              <a:ahLst/>
              <a:cxnLst/>
              <a:rect r="r" b="b" t="t" l="l"/>
              <a:pathLst>
                <a:path h="1397928" w="1114903">
                  <a:moveTo>
                    <a:pt x="990442" y="1397927"/>
                  </a:moveTo>
                  <a:lnTo>
                    <a:pt x="124460" y="1397927"/>
                  </a:lnTo>
                  <a:cubicBezTo>
                    <a:pt x="55880" y="1397927"/>
                    <a:pt x="0" y="1342047"/>
                    <a:pt x="0" y="1273467"/>
                  </a:cubicBezTo>
                  <a:lnTo>
                    <a:pt x="0" y="124460"/>
                  </a:lnTo>
                  <a:cubicBezTo>
                    <a:pt x="0" y="55880"/>
                    <a:pt x="55880" y="0"/>
                    <a:pt x="124460" y="0"/>
                  </a:cubicBezTo>
                  <a:lnTo>
                    <a:pt x="990443" y="0"/>
                  </a:lnTo>
                  <a:cubicBezTo>
                    <a:pt x="1059022" y="0"/>
                    <a:pt x="1114903" y="55880"/>
                    <a:pt x="1114903" y="124460"/>
                  </a:cubicBezTo>
                  <a:lnTo>
                    <a:pt x="1114903" y="1273468"/>
                  </a:lnTo>
                  <a:cubicBezTo>
                    <a:pt x="1114903" y="1342047"/>
                    <a:pt x="1059022" y="1397928"/>
                    <a:pt x="990443" y="1397928"/>
                  </a:cubicBezTo>
                  <a:close/>
                </a:path>
              </a:pathLst>
            </a:custGeom>
            <a:solidFill>
              <a:srgbClr val="FFFFFF"/>
            </a:solidFill>
          </p:spPr>
        </p:sp>
      </p:grpSp>
      <p:grpSp>
        <p:nvGrpSpPr>
          <p:cNvPr name="Group 36" id="36"/>
          <p:cNvGrpSpPr/>
          <p:nvPr/>
        </p:nvGrpSpPr>
        <p:grpSpPr>
          <a:xfrm rot="0">
            <a:off x="3347691" y="3396461"/>
            <a:ext cx="4435188" cy="3508166"/>
            <a:chOff x="0" y="0"/>
            <a:chExt cx="5913584" cy="4677555"/>
          </a:xfrm>
        </p:grpSpPr>
        <p:sp>
          <p:nvSpPr>
            <p:cNvPr name="TextBox 37" id="37"/>
            <p:cNvSpPr txBox="true"/>
            <p:nvPr/>
          </p:nvSpPr>
          <p:spPr>
            <a:xfrm rot="0">
              <a:off x="0" y="-57150"/>
              <a:ext cx="5913584" cy="2156883"/>
            </a:xfrm>
            <a:prstGeom prst="rect">
              <a:avLst/>
            </a:prstGeom>
          </p:spPr>
          <p:txBody>
            <a:bodyPr anchor="t" rtlCol="false" tIns="0" lIns="0" bIns="0" rIns="0">
              <a:spAutoFit/>
            </a:bodyPr>
            <a:lstStyle/>
            <a:p>
              <a:pPr algn="l">
                <a:lnSpc>
                  <a:spcPts val="6500"/>
                </a:lnSpc>
              </a:pPr>
              <a:r>
                <a:rPr lang="en-US" sz="5000">
                  <a:solidFill>
                    <a:srgbClr val="2E4494"/>
                  </a:solidFill>
                  <a:latin typeface="League Spartan"/>
                  <a:ea typeface="League Spartan"/>
                  <a:cs typeface="League Spartan"/>
                  <a:sym typeface="League Spartan"/>
                </a:rPr>
                <a:t>Data Transmission</a:t>
              </a:r>
            </a:p>
          </p:txBody>
        </p:sp>
        <p:sp>
          <p:nvSpPr>
            <p:cNvPr name="TextBox 38" id="38"/>
            <p:cNvSpPr txBox="true"/>
            <p:nvPr/>
          </p:nvSpPr>
          <p:spPr>
            <a:xfrm rot="0">
              <a:off x="0" y="2519718"/>
              <a:ext cx="5913584" cy="2157837"/>
            </a:xfrm>
            <a:prstGeom prst="rect">
              <a:avLst/>
            </a:prstGeom>
          </p:spPr>
          <p:txBody>
            <a:bodyPr anchor="t" rtlCol="false" tIns="0" lIns="0" bIns="0" rIns="0">
              <a:spAutoFit/>
            </a:bodyPr>
            <a:lstStyle/>
            <a:p>
              <a:pPr algn="l">
                <a:lnSpc>
                  <a:spcPts val="4479"/>
                </a:lnSpc>
              </a:pPr>
              <a:r>
                <a:rPr lang="en-US" sz="3199">
                  <a:solidFill>
                    <a:srgbClr val="000000"/>
                  </a:solidFill>
                  <a:latin typeface="Nunito"/>
                  <a:ea typeface="Nunito"/>
                  <a:cs typeface="Nunito"/>
                  <a:sym typeface="Nunito"/>
                </a:rPr>
                <a:t>How does the data transmit between different devices?</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44AD9F"/>
        </a:solidFill>
      </p:bgPr>
    </p:bg>
    <p:spTree>
      <p:nvGrpSpPr>
        <p:cNvPr id="1" name=""/>
        <p:cNvGrpSpPr/>
        <p:nvPr/>
      </p:nvGrpSpPr>
      <p:grpSpPr>
        <a:xfrm>
          <a:off x="0" y="0"/>
          <a:ext cx="0" cy="0"/>
          <a:chOff x="0" y="0"/>
          <a:chExt cx="0" cy="0"/>
        </a:xfrm>
      </p:grpSpPr>
      <p:grpSp>
        <p:nvGrpSpPr>
          <p:cNvPr name="Group 2" id="2"/>
          <p:cNvGrpSpPr/>
          <p:nvPr/>
        </p:nvGrpSpPr>
        <p:grpSpPr>
          <a:xfrm rot="0">
            <a:off x="4185468" y="1114556"/>
            <a:ext cx="9917064" cy="8057888"/>
            <a:chOff x="0" y="0"/>
            <a:chExt cx="2338813" cy="1900350"/>
          </a:xfrm>
        </p:grpSpPr>
        <p:sp>
          <p:nvSpPr>
            <p:cNvPr name="Freeform 3" id="3"/>
            <p:cNvSpPr/>
            <p:nvPr/>
          </p:nvSpPr>
          <p:spPr>
            <a:xfrm flipH="false" flipV="false" rot="0">
              <a:off x="0" y="0"/>
              <a:ext cx="2338813" cy="1900350"/>
            </a:xfrm>
            <a:custGeom>
              <a:avLst/>
              <a:gdLst/>
              <a:ahLst/>
              <a:cxnLst/>
              <a:rect r="r" b="b" t="t" l="l"/>
              <a:pathLst>
                <a:path h="1900350" w="2338813">
                  <a:moveTo>
                    <a:pt x="2214353" y="1900350"/>
                  </a:moveTo>
                  <a:lnTo>
                    <a:pt x="124460" y="1900350"/>
                  </a:lnTo>
                  <a:cubicBezTo>
                    <a:pt x="55880" y="1900350"/>
                    <a:pt x="0" y="1844470"/>
                    <a:pt x="0" y="1775890"/>
                  </a:cubicBezTo>
                  <a:lnTo>
                    <a:pt x="0" y="124460"/>
                  </a:lnTo>
                  <a:cubicBezTo>
                    <a:pt x="0" y="55880"/>
                    <a:pt x="55880" y="0"/>
                    <a:pt x="124460" y="0"/>
                  </a:cubicBezTo>
                  <a:lnTo>
                    <a:pt x="2214353" y="0"/>
                  </a:lnTo>
                  <a:cubicBezTo>
                    <a:pt x="2282933" y="0"/>
                    <a:pt x="2338813" y="55880"/>
                    <a:pt x="2338813" y="124460"/>
                  </a:cubicBezTo>
                  <a:lnTo>
                    <a:pt x="2338813" y="1775890"/>
                  </a:lnTo>
                  <a:cubicBezTo>
                    <a:pt x="2338813" y="1844470"/>
                    <a:pt x="2282933" y="1900350"/>
                    <a:pt x="2214353" y="1900350"/>
                  </a:cubicBezTo>
                  <a:close/>
                </a:path>
              </a:pathLst>
            </a:custGeom>
            <a:solidFill>
              <a:srgbClr val="FFFFFF"/>
            </a:solidFill>
          </p:spPr>
        </p:sp>
      </p:grpSp>
      <p:grpSp>
        <p:nvGrpSpPr>
          <p:cNvPr name="Group 4" id="4"/>
          <p:cNvGrpSpPr/>
          <p:nvPr/>
        </p:nvGrpSpPr>
        <p:grpSpPr>
          <a:xfrm rot="0">
            <a:off x="12262034" y="1114556"/>
            <a:ext cx="1840498" cy="1840498"/>
            <a:chOff x="0" y="0"/>
            <a:chExt cx="1913890" cy="1913890"/>
          </a:xfrm>
        </p:grpSpPr>
        <p:sp>
          <p:nvSpPr>
            <p:cNvPr name="Freeform 5" id="5"/>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FFFF"/>
            </a:solidFill>
          </p:spPr>
        </p:sp>
      </p:grpSp>
      <p:grpSp>
        <p:nvGrpSpPr>
          <p:cNvPr name="Group 6" id="6"/>
          <p:cNvGrpSpPr/>
          <p:nvPr/>
        </p:nvGrpSpPr>
        <p:grpSpPr>
          <a:xfrm rot="0">
            <a:off x="4185468" y="7331946"/>
            <a:ext cx="1840498" cy="1840498"/>
            <a:chOff x="0" y="0"/>
            <a:chExt cx="1913890" cy="1913890"/>
          </a:xfrm>
        </p:grpSpPr>
        <p:sp>
          <p:nvSpPr>
            <p:cNvPr name="Freeform 7" id="7"/>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FFFF"/>
            </a:solidFill>
          </p:spPr>
        </p:sp>
      </p:grpSp>
      <p:grpSp>
        <p:nvGrpSpPr>
          <p:cNvPr name="Group 8" id="8"/>
          <p:cNvGrpSpPr/>
          <p:nvPr/>
        </p:nvGrpSpPr>
        <p:grpSpPr>
          <a:xfrm rot="-5400000">
            <a:off x="12451660" y="2765428"/>
            <a:ext cx="6378017" cy="3076273"/>
            <a:chOff x="0" y="0"/>
            <a:chExt cx="1933766" cy="932703"/>
          </a:xfrm>
        </p:grpSpPr>
        <p:sp>
          <p:nvSpPr>
            <p:cNvPr name="Freeform 9" id="9"/>
            <p:cNvSpPr/>
            <p:nvPr/>
          </p:nvSpPr>
          <p:spPr>
            <a:xfrm flipH="false" flipV="false" rot="0">
              <a:off x="0" y="0"/>
              <a:ext cx="1933766" cy="932703"/>
            </a:xfrm>
            <a:custGeom>
              <a:avLst/>
              <a:gdLst/>
              <a:ahLst/>
              <a:cxnLst/>
              <a:rect r="r" b="b" t="t" l="l"/>
              <a:pathLst>
                <a:path h="932703" w="1933766">
                  <a:moveTo>
                    <a:pt x="1809306" y="932703"/>
                  </a:moveTo>
                  <a:lnTo>
                    <a:pt x="124460" y="932703"/>
                  </a:lnTo>
                  <a:cubicBezTo>
                    <a:pt x="55880" y="932703"/>
                    <a:pt x="0" y="876823"/>
                    <a:pt x="0" y="808243"/>
                  </a:cubicBezTo>
                  <a:lnTo>
                    <a:pt x="0" y="124460"/>
                  </a:lnTo>
                  <a:cubicBezTo>
                    <a:pt x="0" y="55880"/>
                    <a:pt x="55880" y="0"/>
                    <a:pt x="124460" y="0"/>
                  </a:cubicBezTo>
                  <a:lnTo>
                    <a:pt x="1809306" y="0"/>
                  </a:lnTo>
                  <a:cubicBezTo>
                    <a:pt x="1877886" y="0"/>
                    <a:pt x="1933766" y="55880"/>
                    <a:pt x="1933766" y="124460"/>
                  </a:cubicBezTo>
                  <a:lnTo>
                    <a:pt x="1933766" y="808243"/>
                  </a:lnTo>
                  <a:cubicBezTo>
                    <a:pt x="1933766" y="876823"/>
                    <a:pt x="1877886" y="932703"/>
                    <a:pt x="1809306" y="932703"/>
                  </a:cubicBezTo>
                  <a:close/>
                </a:path>
              </a:pathLst>
            </a:custGeom>
            <a:solidFill>
              <a:srgbClr val="2E4494"/>
            </a:solidFill>
          </p:spPr>
        </p:sp>
      </p:grpSp>
      <p:grpSp>
        <p:nvGrpSpPr>
          <p:cNvPr name="Group 10" id="10"/>
          <p:cNvGrpSpPr/>
          <p:nvPr/>
        </p:nvGrpSpPr>
        <p:grpSpPr>
          <a:xfrm rot="-5400000">
            <a:off x="14110595" y="1179583"/>
            <a:ext cx="3060147" cy="3076273"/>
            <a:chOff x="0" y="0"/>
            <a:chExt cx="927814" cy="932703"/>
          </a:xfrm>
        </p:grpSpPr>
        <p:sp>
          <p:nvSpPr>
            <p:cNvPr name="Freeform 11" id="11"/>
            <p:cNvSpPr/>
            <p:nvPr/>
          </p:nvSpPr>
          <p:spPr>
            <a:xfrm flipH="false" flipV="false" rot="0">
              <a:off x="0" y="0"/>
              <a:ext cx="927814" cy="932703"/>
            </a:xfrm>
            <a:custGeom>
              <a:avLst/>
              <a:gdLst/>
              <a:ahLst/>
              <a:cxnLst/>
              <a:rect r="r" b="b" t="t" l="l"/>
              <a:pathLst>
                <a:path h="932703" w="927814">
                  <a:moveTo>
                    <a:pt x="803353" y="932703"/>
                  </a:moveTo>
                  <a:lnTo>
                    <a:pt x="124460" y="932703"/>
                  </a:lnTo>
                  <a:cubicBezTo>
                    <a:pt x="55880" y="932703"/>
                    <a:pt x="0" y="876823"/>
                    <a:pt x="0" y="808243"/>
                  </a:cubicBezTo>
                  <a:lnTo>
                    <a:pt x="0" y="124460"/>
                  </a:lnTo>
                  <a:cubicBezTo>
                    <a:pt x="0" y="55880"/>
                    <a:pt x="55880" y="0"/>
                    <a:pt x="124460" y="0"/>
                  </a:cubicBezTo>
                  <a:lnTo>
                    <a:pt x="803354" y="0"/>
                  </a:lnTo>
                  <a:cubicBezTo>
                    <a:pt x="871934" y="0"/>
                    <a:pt x="927814" y="55880"/>
                    <a:pt x="927814" y="124460"/>
                  </a:cubicBezTo>
                  <a:lnTo>
                    <a:pt x="927814" y="808243"/>
                  </a:lnTo>
                  <a:cubicBezTo>
                    <a:pt x="927814" y="876823"/>
                    <a:pt x="871934" y="932703"/>
                    <a:pt x="803354" y="932703"/>
                  </a:cubicBezTo>
                  <a:close/>
                </a:path>
              </a:pathLst>
            </a:custGeom>
            <a:solidFill>
              <a:srgbClr val="000000">
                <a:alpha val="0"/>
              </a:srgbClr>
            </a:solidFill>
          </p:spPr>
        </p:sp>
      </p:grpSp>
      <p:sp>
        <p:nvSpPr>
          <p:cNvPr name="Freeform 12" id="12"/>
          <p:cNvSpPr/>
          <p:nvPr/>
        </p:nvSpPr>
        <p:spPr>
          <a:xfrm flipH="false" flipV="false" rot="-5400000">
            <a:off x="14674139" y="4965372"/>
            <a:ext cx="1933059" cy="1933059"/>
          </a:xfrm>
          <a:custGeom>
            <a:avLst/>
            <a:gdLst/>
            <a:ahLst/>
            <a:cxnLst/>
            <a:rect r="r" b="b" t="t" l="l"/>
            <a:pathLst>
              <a:path h="1933059" w="1933059">
                <a:moveTo>
                  <a:pt x="0" y="0"/>
                </a:moveTo>
                <a:lnTo>
                  <a:pt x="1933059" y="0"/>
                </a:lnTo>
                <a:lnTo>
                  <a:pt x="1933059" y="1933059"/>
                </a:lnTo>
                <a:lnTo>
                  <a:pt x="0" y="19330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5400000">
            <a:off x="14102532" y="1114556"/>
            <a:ext cx="3086059" cy="3086059"/>
          </a:xfrm>
          <a:custGeom>
            <a:avLst/>
            <a:gdLst/>
            <a:ahLst/>
            <a:cxnLst/>
            <a:rect r="r" b="b" t="t" l="l"/>
            <a:pathLst>
              <a:path h="3086059" w="3086059">
                <a:moveTo>
                  <a:pt x="0" y="0"/>
                </a:moveTo>
                <a:lnTo>
                  <a:pt x="3086059" y="0"/>
                </a:lnTo>
                <a:lnTo>
                  <a:pt x="3086059" y="3086059"/>
                </a:lnTo>
                <a:lnTo>
                  <a:pt x="0" y="30860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5400000">
            <a:off x="790716" y="3053239"/>
            <a:ext cx="3655645" cy="3120390"/>
            <a:chOff x="0" y="0"/>
            <a:chExt cx="1092694" cy="932703"/>
          </a:xfrm>
        </p:grpSpPr>
        <p:sp>
          <p:nvSpPr>
            <p:cNvPr name="Freeform 15" id="15"/>
            <p:cNvSpPr/>
            <p:nvPr/>
          </p:nvSpPr>
          <p:spPr>
            <a:xfrm flipH="false" flipV="false" rot="0">
              <a:off x="0" y="0"/>
              <a:ext cx="1092694" cy="932703"/>
            </a:xfrm>
            <a:custGeom>
              <a:avLst/>
              <a:gdLst/>
              <a:ahLst/>
              <a:cxnLst/>
              <a:rect r="r" b="b" t="t" l="l"/>
              <a:pathLst>
                <a:path h="932703" w="1092694">
                  <a:moveTo>
                    <a:pt x="968234" y="932703"/>
                  </a:moveTo>
                  <a:lnTo>
                    <a:pt x="124460" y="932703"/>
                  </a:lnTo>
                  <a:cubicBezTo>
                    <a:pt x="55880" y="932703"/>
                    <a:pt x="0" y="876823"/>
                    <a:pt x="0" y="808243"/>
                  </a:cubicBezTo>
                  <a:lnTo>
                    <a:pt x="0" y="124460"/>
                  </a:lnTo>
                  <a:cubicBezTo>
                    <a:pt x="0" y="55880"/>
                    <a:pt x="55880" y="0"/>
                    <a:pt x="124460" y="0"/>
                  </a:cubicBezTo>
                  <a:lnTo>
                    <a:pt x="968234" y="0"/>
                  </a:lnTo>
                  <a:cubicBezTo>
                    <a:pt x="1036814" y="0"/>
                    <a:pt x="1092694" y="55880"/>
                    <a:pt x="1092694" y="124460"/>
                  </a:cubicBezTo>
                  <a:lnTo>
                    <a:pt x="1092694" y="808243"/>
                  </a:lnTo>
                  <a:cubicBezTo>
                    <a:pt x="1092694" y="876823"/>
                    <a:pt x="1036814" y="932703"/>
                    <a:pt x="968234" y="932703"/>
                  </a:cubicBezTo>
                  <a:close/>
                </a:path>
              </a:pathLst>
            </a:custGeom>
            <a:solidFill>
              <a:srgbClr val="E2C8CA"/>
            </a:solidFill>
          </p:spPr>
        </p:sp>
      </p:grpSp>
      <p:grpSp>
        <p:nvGrpSpPr>
          <p:cNvPr name="Group 16" id="16"/>
          <p:cNvGrpSpPr>
            <a:grpSpLocks noChangeAspect="true"/>
          </p:cNvGrpSpPr>
          <p:nvPr/>
        </p:nvGrpSpPr>
        <p:grpSpPr>
          <a:xfrm rot="-5400000">
            <a:off x="1805071" y="3613442"/>
            <a:ext cx="1626935" cy="1626935"/>
            <a:chOff x="1371600" y="6705600"/>
            <a:chExt cx="10972800" cy="10972800"/>
          </a:xfrm>
        </p:grpSpPr>
        <p:sp>
          <p:nvSpPr>
            <p:cNvPr name="Freeform 17" id="17"/>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FFFFFF"/>
            </a:solidFill>
          </p:spPr>
        </p:sp>
      </p:grpSp>
      <p:grpSp>
        <p:nvGrpSpPr>
          <p:cNvPr name="Group 18" id="18"/>
          <p:cNvGrpSpPr>
            <a:grpSpLocks noChangeAspect="true"/>
          </p:cNvGrpSpPr>
          <p:nvPr/>
        </p:nvGrpSpPr>
        <p:grpSpPr>
          <a:xfrm rot="-5400000">
            <a:off x="1493044" y="7087208"/>
            <a:ext cx="2141603" cy="2141603"/>
            <a:chOff x="1371600" y="6705600"/>
            <a:chExt cx="10972800" cy="10972800"/>
          </a:xfrm>
        </p:grpSpPr>
        <p:sp>
          <p:nvSpPr>
            <p:cNvPr name="Freeform 19" id="19"/>
            <p:cNvSpPr/>
            <p:nvPr/>
          </p:nvSpPr>
          <p:spPr>
            <a:xfrm flipH="false" flipV="false" rot="0">
              <a:off x="1362808" y="6434629"/>
              <a:ext cx="10990384" cy="11514742"/>
            </a:xfrm>
            <a:custGeom>
              <a:avLst/>
              <a:gdLst/>
              <a:ahLst/>
              <a:cxnLst/>
              <a:rect r="r" b="b" t="t" l="l"/>
              <a:pathLst>
                <a:path h="11514742" w="10990384">
                  <a:moveTo>
                    <a:pt x="8792" y="5757371"/>
                  </a:moveTo>
                  <a:cubicBezTo>
                    <a:pt x="0" y="7723318"/>
                    <a:pt x="1043775" y="9543701"/>
                    <a:pt x="2744885" y="10529222"/>
                  </a:cubicBezTo>
                  <a:cubicBezTo>
                    <a:pt x="4445994" y="11514742"/>
                    <a:pt x="6544389" y="11514742"/>
                    <a:pt x="8245499" y="10529222"/>
                  </a:cubicBezTo>
                  <a:cubicBezTo>
                    <a:pt x="9946609" y="9543701"/>
                    <a:pt x="10990384" y="7723318"/>
                    <a:pt x="10981592" y="5757371"/>
                  </a:cubicBezTo>
                  <a:cubicBezTo>
                    <a:pt x="10990384" y="3791424"/>
                    <a:pt x="9946609" y="1971041"/>
                    <a:pt x="8245499" y="985520"/>
                  </a:cubicBezTo>
                  <a:cubicBezTo>
                    <a:pt x="6544389" y="0"/>
                    <a:pt x="4445994" y="0"/>
                    <a:pt x="2744885" y="985520"/>
                  </a:cubicBezTo>
                  <a:cubicBezTo>
                    <a:pt x="1043775" y="1971041"/>
                    <a:pt x="0" y="3791424"/>
                    <a:pt x="8792" y="5757371"/>
                  </a:cubicBezTo>
                  <a:close/>
                </a:path>
              </a:pathLst>
            </a:custGeom>
            <a:solidFill>
              <a:srgbClr val="000000">
                <a:alpha val="0"/>
              </a:srgbClr>
            </a:solidFill>
          </p:spPr>
        </p:sp>
      </p:grpSp>
      <p:sp>
        <p:nvSpPr>
          <p:cNvPr name="Freeform 20" id="20"/>
          <p:cNvSpPr/>
          <p:nvPr/>
        </p:nvSpPr>
        <p:spPr>
          <a:xfrm flipH="false" flipV="false" rot="-5400000">
            <a:off x="1058343" y="6068208"/>
            <a:ext cx="3120390" cy="3120390"/>
          </a:xfrm>
          <a:custGeom>
            <a:avLst/>
            <a:gdLst/>
            <a:ahLst/>
            <a:cxnLst/>
            <a:rect r="r" b="b" t="t" l="l"/>
            <a:pathLst>
              <a:path h="3120390" w="3120390">
                <a:moveTo>
                  <a:pt x="0" y="0"/>
                </a:moveTo>
                <a:lnTo>
                  <a:pt x="3120390" y="0"/>
                </a:lnTo>
                <a:lnTo>
                  <a:pt x="3120390" y="3120390"/>
                </a:lnTo>
                <a:lnTo>
                  <a:pt x="0" y="31203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1" id="21"/>
          <p:cNvGrpSpPr>
            <a:grpSpLocks noChangeAspect="true"/>
          </p:cNvGrpSpPr>
          <p:nvPr/>
        </p:nvGrpSpPr>
        <p:grpSpPr>
          <a:xfrm rot="0">
            <a:off x="1028700" y="6941978"/>
            <a:ext cx="2605947" cy="1372849"/>
            <a:chOff x="0" y="0"/>
            <a:chExt cx="1610360" cy="848360"/>
          </a:xfrm>
        </p:grpSpPr>
        <p:sp>
          <p:nvSpPr>
            <p:cNvPr name="Freeform 22" id="22"/>
            <p:cNvSpPr/>
            <p:nvPr/>
          </p:nvSpPr>
          <p:spPr>
            <a:xfrm flipH="false" flipV="false" rot="0">
              <a:off x="-31750" y="0"/>
              <a:ext cx="1675130" cy="880110"/>
            </a:xfrm>
            <a:custGeom>
              <a:avLst/>
              <a:gdLst/>
              <a:ahLst/>
              <a:cxnLst/>
              <a:rect r="r" b="b" t="t" l="l"/>
              <a:pathLst>
                <a:path h="880110" w="167513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FFFFF"/>
            </a:solidFill>
          </p:spPr>
        </p:sp>
      </p:grpSp>
      <p:sp>
        <p:nvSpPr>
          <p:cNvPr name="TextBox 23" id="23"/>
          <p:cNvSpPr txBox="true"/>
          <p:nvPr/>
        </p:nvSpPr>
        <p:spPr>
          <a:xfrm rot="0">
            <a:off x="5904048" y="5608844"/>
            <a:ext cx="6479904" cy="947302"/>
          </a:xfrm>
          <a:prstGeom prst="rect">
            <a:avLst/>
          </a:prstGeom>
        </p:spPr>
        <p:txBody>
          <a:bodyPr anchor="t" rtlCol="false" tIns="0" lIns="0" bIns="0" rIns="0">
            <a:spAutoFit/>
          </a:bodyPr>
          <a:lstStyle/>
          <a:p>
            <a:pPr algn="l">
              <a:lnSpc>
                <a:spcPts val="7475"/>
              </a:lnSpc>
            </a:pPr>
            <a:r>
              <a:rPr lang="en-US" sz="6500">
                <a:solidFill>
                  <a:srgbClr val="196E63"/>
                </a:solidFill>
                <a:latin typeface="League Spartan"/>
                <a:ea typeface="League Spartan"/>
                <a:cs typeface="League Spartan"/>
                <a:sym typeface="League Spartan"/>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DAGWF9R2zTU</dc:identifier>
  <dcterms:modified xsi:type="dcterms:W3CDTF">2011-08-01T06:04:30Z</dcterms:modified>
  <cp:revision>1</cp:revision>
  <dc:title>Green Simple Pitch Deck Presentation</dc:title>
</cp:coreProperties>
</file>